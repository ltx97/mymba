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1"/>
  </p:notesMasterIdLst>
  <p:sldIdLst>
    <p:sldId id="262" r:id="rId2"/>
    <p:sldId id="263" r:id="rId3"/>
    <p:sldId id="258" r:id="rId4"/>
    <p:sldId id="265" r:id="rId5"/>
    <p:sldId id="259" r:id="rId6"/>
    <p:sldId id="260" r:id="rId7"/>
    <p:sldId id="261" r:id="rId8"/>
    <p:sldId id="266" r:id="rId9"/>
    <p:sldId id="264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0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2024-10-16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2024-10-16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2024-10-16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06D3F8-ECF9-0B7D-8994-2ECE860D262C}"/>
              </a:ext>
            </a:extLst>
          </p:cNvPr>
          <p:cNvSpPr txBox="1"/>
          <p:nvPr/>
        </p:nvSpPr>
        <p:spPr>
          <a:xfrm>
            <a:off x="5285521" y="845080"/>
            <a:ext cx="162095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公司层面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022582-2206-99E8-420A-E3CE309C6558}"/>
              </a:ext>
            </a:extLst>
          </p:cNvPr>
          <p:cNvSpPr txBox="1"/>
          <p:nvPr/>
        </p:nvSpPr>
        <p:spPr>
          <a:xfrm>
            <a:off x="3196240" y="1532015"/>
            <a:ext cx="5527475" cy="961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成立于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年，总部位于英国剑桥。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年被日本软银集团收购。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314C4C-A819-8DE6-C63C-0E123417A3A8}"/>
              </a:ext>
            </a:extLst>
          </p:cNvPr>
          <p:cNvGrpSpPr/>
          <p:nvPr/>
        </p:nvGrpSpPr>
        <p:grpSpPr>
          <a:xfrm>
            <a:off x="1622612" y="2593638"/>
            <a:ext cx="9663952" cy="700576"/>
            <a:chOff x="1622612" y="2593638"/>
            <a:chExt cx="9663952" cy="70057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072A2C5-162A-12EB-8078-33CC51F7E086}"/>
                </a:ext>
              </a:extLst>
            </p:cNvPr>
            <p:cNvSpPr/>
            <p:nvPr/>
          </p:nvSpPr>
          <p:spPr>
            <a:xfrm>
              <a:off x="1622612" y="2713094"/>
              <a:ext cx="1183341" cy="461665"/>
            </a:xfrm>
            <a:prstGeom prst="roundRect">
              <a:avLst/>
            </a:prstGeom>
            <a:noFill/>
            <a:ln w="28575">
              <a:solidFill>
                <a:srgbClr val="0064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</a:rPr>
                <a:t>产品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0965B6A-8976-DAAE-A843-3CBEAC0E8F3A}"/>
                </a:ext>
              </a:extLst>
            </p:cNvPr>
            <p:cNvSpPr txBox="1"/>
            <p:nvPr/>
          </p:nvSpPr>
          <p:spPr>
            <a:xfrm>
              <a:off x="4312023" y="2593638"/>
              <a:ext cx="6974541" cy="7005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ARM</a:t>
              </a:r>
              <a:r>
                <a:rPr lang="zh-CN" altLang="zh-CN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架构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处理器</a:t>
              </a:r>
              <a:r>
                <a:rPr lang="zh-CN" altLang="zh-CN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及相关外围组件的电路</a:t>
              </a:r>
              <a:r>
                <a:rPr lang="zh-CN" altLang="zh-CN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设计方案</a:t>
              </a:r>
              <a:endParaRPr lang="en-US" altLang="zh-CN" sz="1400" b="1" dirty="0">
                <a:solidFill>
                  <a:srgbClr val="FDA0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effectLst/>
                  <a:latin typeface="Inter"/>
                </a:rPr>
                <a:t>不直接生产芯片，而是将芯片的设计方案授权给其他半导体公司，由它们来生产芯片</a:t>
              </a:r>
              <a:endParaRPr lang="zh-CN" altLang="en-US" sz="1400" b="1" dirty="0">
                <a:solidFill>
                  <a:srgbClr val="FDA00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9B711BE-8B03-A89C-C221-5145553F8603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flipV="1">
              <a:off x="2805953" y="2943926"/>
              <a:ext cx="1506070" cy="1"/>
            </a:xfrm>
            <a:prstGeom prst="line">
              <a:avLst/>
            </a:prstGeom>
            <a:ln w="28575">
              <a:solidFill>
                <a:srgbClr val="0064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71D51A-6729-CCDC-7197-B2C1C4E6B797}"/>
              </a:ext>
            </a:extLst>
          </p:cNvPr>
          <p:cNvGrpSpPr/>
          <p:nvPr/>
        </p:nvGrpSpPr>
        <p:grpSpPr>
          <a:xfrm>
            <a:off x="1622612" y="3871941"/>
            <a:ext cx="9663951" cy="461665"/>
            <a:chOff x="1622612" y="3871941"/>
            <a:chExt cx="9663951" cy="46166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8D2654CD-141B-50F8-E5BA-0E58C567134B}"/>
                </a:ext>
              </a:extLst>
            </p:cNvPr>
            <p:cNvSpPr/>
            <p:nvPr/>
          </p:nvSpPr>
          <p:spPr>
            <a:xfrm>
              <a:off x="1622612" y="3871941"/>
              <a:ext cx="1183341" cy="461665"/>
            </a:xfrm>
            <a:prstGeom prst="roundRect">
              <a:avLst/>
            </a:prstGeom>
            <a:noFill/>
            <a:ln w="28575">
              <a:solidFill>
                <a:srgbClr val="0064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</a:rPr>
                <a:t>如何卖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10B843F-698D-335C-9FC2-67822F2B7874}"/>
                </a:ext>
              </a:extLst>
            </p:cNvPr>
            <p:cNvSpPr txBox="1"/>
            <p:nvPr/>
          </p:nvSpPr>
          <p:spPr>
            <a:xfrm>
              <a:off x="4312022" y="3914067"/>
              <a:ext cx="6974541" cy="3774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进行知识产权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授权</a:t>
              </a: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，只卖方案，不卖具体产品</a:t>
              </a:r>
              <a:endParaRPr lang="zh-CN" altLang="en-US" sz="1400" b="1" dirty="0">
                <a:solidFill>
                  <a:srgbClr val="FDA00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F3A2DA6-A354-30CF-92A7-E5C880089F12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2805953" y="4102773"/>
              <a:ext cx="1506069" cy="1"/>
            </a:xfrm>
            <a:prstGeom prst="line">
              <a:avLst/>
            </a:prstGeom>
            <a:ln w="28575">
              <a:solidFill>
                <a:srgbClr val="0064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51614EE-E8BE-495B-3FAD-1B3C7B144B59}"/>
              </a:ext>
            </a:extLst>
          </p:cNvPr>
          <p:cNvGrpSpPr/>
          <p:nvPr/>
        </p:nvGrpSpPr>
        <p:grpSpPr>
          <a:xfrm>
            <a:off x="1622612" y="4911331"/>
            <a:ext cx="9663951" cy="700576"/>
            <a:chOff x="1622612" y="4911331"/>
            <a:chExt cx="9663951" cy="70057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6AE6ED8-2E09-BDC2-4719-13BCC8AC3320}"/>
                </a:ext>
              </a:extLst>
            </p:cNvPr>
            <p:cNvSpPr/>
            <p:nvPr/>
          </p:nvSpPr>
          <p:spPr>
            <a:xfrm>
              <a:off x="1622612" y="5030786"/>
              <a:ext cx="1183341" cy="461665"/>
            </a:xfrm>
            <a:prstGeom prst="roundRect">
              <a:avLst/>
            </a:prstGeom>
            <a:noFill/>
            <a:ln w="28575">
              <a:solidFill>
                <a:srgbClr val="0064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2">
                      <a:lumMod val="25000"/>
                    </a:schemeClr>
                  </a:solidFill>
                </a:rPr>
                <a:t>如何盈利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96FC70B-F029-B098-FDCC-F7534225B4B0}"/>
                </a:ext>
              </a:extLst>
            </p:cNvPr>
            <p:cNvSpPr txBox="1"/>
            <p:nvPr/>
          </p:nvSpPr>
          <p:spPr>
            <a:xfrm>
              <a:off x="4312022" y="4911331"/>
              <a:ext cx="6974541" cy="7005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下游公司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拿到</a:t>
              </a:r>
              <a:r>
                <a:rPr lang="en-US" altLang="zh-CN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ARM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的方案</a:t>
              </a: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→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设计产品</a:t>
              </a: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→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销售产品</a:t>
              </a: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→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分钱给</a:t>
              </a:r>
              <a:r>
                <a:rPr lang="en-US" altLang="zh-CN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ARM</a:t>
              </a:r>
              <a:r>
                <a:rPr lang="zh-CN" altLang="en-US" sz="1400" b="1" dirty="0">
                  <a:solidFill>
                    <a:srgbClr val="FDA007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公司</a:t>
              </a:r>
              <a:endParaRPr lang="en-US" altLang="zh-CN" sz="1400" b="1" dirty="0">
                <a:solidFill>
                  <a:srgbClr val="FDA0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ARM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</a:t>
              </a:r>
              <a:r>
                <a:rPr lang="zh-CN" altLang="en-US" sz="1400" b="1" dirty="0">
                  <a:solidFill>
                    <a:srgbClr val="FDA00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“躺着”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挣钱</a:t>
              </a:r>
              <a:endParaRPr lang="zh-CN" altLang="en-US" sz="1400" dirty="0">
                <a:solidFill>
                  <a:srgbClr val="FDA00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75A14D7-2880-14ED-219D-A6C250DC8C95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2805953" y="5261619"/>
              <a:ext cx="1506069" cy="0"/>
            </a:xfrm>
            <a:prstGeom prst="line">
              <a:avLst/>
            </a:prstGeom>
            <a:ln w="28575">
              <a:solidFill>
                <a:srgbClr val="0064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3B6FD201-DCB1-CDD4-BB96-0A0F7C42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962" y="1292400"/>
            <a:ext cx="1423426" cy="142069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A8FD7F6-AA3D-9ABF-BAD7-6DA1B82EE002}"/>
              </a:ext>
            </a:extLst>
          </p:cNvPr>
          <p:cNvSpPr txBox="1"/>
          <p:nvPr/>
        </p:nvSpPr>
        <p:spPr>
          <a:xfrm>
            <a:off x="2098067" y="219699"/>
            <a:ext cx="186942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endParaRPr lang="zh-CN" altLang="en-US" sz="2400" b="1" dirty="0">
              <a:solidFill>
                <a:srgbClr val="0064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2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520FAD-9100-CA53-FAEE-E312EE14CACF}"/>
              </a:ext>
            </a:extLst>
          </p:cNvPr>
          <p:cNvSpPr txBox="1"/>
          <p:nvPr/>
        </p:nvSpPr>
        <p:spPr>
          <a:xfrm>
            <a:off x="4678276" y="1491626"/>
            <a:ext cx="3129383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DA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000" b="1" dirty="0">
                <a:solidFill>
                  <a:srgbClr val="FDA00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处理器架构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7B763F-330E-7ADB-7E28-209827FA41BE}"/>
              </a:ext>
            </a:extLst>
          </p:cNvPr>
          <p:cNvSpPr txBox="1"/>
          <p:nvPr/>
        </p:nvSpPr>
        <p:spPr>
          <a:xfrm>
            <a:off x="3140770" y="2000057"/>
            <a:ext cx="6147837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zh-CN" sz="2000" b="1" dirty="0">
                <a:solidFill>
                  <a:srgbClr val="FDA0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几乎所有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的移动端处理器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均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采用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ARM</a:t>
            </a:r>
            <a:r>
              <a:rPr lang="zh-CN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授权方案设计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C723384-DDB1-A5C3-AF5D-4AEB89F477E4}"/>
              </a:ext>
            </a:extLst>
          </p:cNvPr>
          <p:cNvGrpSpPr/>
          <p:nvPr/>
        </p:nvGrpSpPr>
        <p:grpSpPr>
          <a:xfrm>
            <a:off x="3140770" y="2606937"/>
            <a:ext cx="6276262" cy="3536728"/>
            <a:chOff x="3140770" y="2408974"/>
            <a:chExt cx="6276262" cy="353672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E7A9EA1-9985-9616-4981-6457444AC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0770" y="3263155"/>
              <a:ext cx="1446090" cy="1419451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BCB1E6F-75A0-143E-35DA-4488D1FE3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7605" y="3263154"/>
              <a:ext cx="4109427" cy="141945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3BE1A49-AD67-FA51-7616-8AD534452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77442" y="2408974"/>
              <a:ext cx="3524979" cy="3536728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95049C1-91D9-C85D-2F3B-4E103A3FEC10}"/>
              </a:ext>
            </a:extLst>
          </p:cNvPr>
          <p:cNvSpPr txBox="1"/>
          <p:nvPr/>
        </p:nvSpPr>
        <p:spPr>
          <a:xfrm>
            <a:off x="5285521" y="845080"/>
            <a:ext cx="1620957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技术层面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9F6CBF-1750-ABC1-8C10-01F8BF0CDE09}"/>
              </a:ext>
            </a:extLst>
          </p:cNvPr>
          <p:cNvSpPr txBox="1"/>
          <p:nvPr/>
        </p:nvSpPr>
        <p:spPr>
          <a:xfrm>
            <a:off x="2098067" y="219699"/>
            <a:ext cx="186942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endParaRPr lang="zh-CN" altLang="en-US" sz="2400" b="1" dirty="0">
              <a:solidFill>
                <a:srgbClr val="0064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571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E87578-EAA0-8935-D040-F0F58BE11B7D}"/>
              </a:ext>
            </a:extLst>
          </p:cNvPr>
          <p:cNvSpPr txBox="1"/>
          <p:nvPr/>
        </p:nvSpPr>
        <p:spPr>
          <a:xfrm>
            <a:off x="2098067" y="219699"/>
            <a:ext cx="326243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内核与芯片之间的关系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5CC8EB-C236-D8B0-B0CD-2C0CC1893224}"/>
              </a:ext>
            </a:extLst>
          </p:cNvPr>
          <p:cNvSpPr txBox="1"/>
          <p:nvPr/>
        </p:nvSpPr>
        <p:spPr>
          <a:xfrm>
            <a:off x="1874332" y="2056994"/>
            <a:ext cx="8443337" cy="1955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思考一个问题：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既然大家都买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公司设计的方案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那不同厂商生产出来的芯片为什么还有性能差异呢？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4F40-30FE-6084-B193-5DC3E989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AC0623-B68C-F4D3-76C9-BC7D3C71AD31}"/>
              </a:ext>
            </a:extLst>
          </p:cNvPr>
          <p:cNvSpPr txBox="1"/>
          <p:nvPr/>
        </p:nvSpPr>
        <p:spPr>
          <a:xfrm>
            <a:off x="489943" y="864615"/>
            <a:ext cx="6340197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为了回答这个问题，我们需要先分清内核与芯片的关系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0A3946-F914-3E54-0A1C-ED122453708F}"/>
              </a:ext>
            </a:extLst>
          </p:cNvPr>
          <p:cNvSpPr txBox="1"/>
          <p:nvPr/>
        </p:nvSpPr>
        <p:spPr>
          <a:xfrm>
            <a:off x="2098067" y="219699"/>
            <a:ext cx="326243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内核与芯片之间的关系</a:t>
            </a:r>
          </a:p>
        </p:txBody>
      </p:sp>
      <p:pic>
        <p:nvPicPr>
          <p:cNvPr id="3076" name="Picture 4" descr="Mac Studio拆解：M1 Ultra是Ryzen CPU三倍大，SSD没焊死但切勿自行升级-电子工程专辑">
            <a:extLst>
              <a:ext uri="{FF2B5EF4-FFF2-40B4-BE49-F238E27FC236}">
                <a16:creationId xmlns:a16="http://schemas.microsoft.com/office/drawing/2014/main" id="{7F1BF645-5F13-B5E0-EAE7-DCC386C30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73" y="2315109"/>
            <a:ext cx="5949502" cy="363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708A38-E617-67F9-DA55-77A8B31559BC}"/>
              </a:ext>
            </a:extLst>
          </p:cNvPr>
          <p:cNvSpPr txBox="1"/>
          <p:nvPr/>
        </p:nvSpPr>
        <p:spPr>
          <a:xfrm>
            <a:off x="256373" y="1508397"/>
            <a:ext cx="6160662" cy="662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下面是苹果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芯片拆开后的实物照片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56A766-AF03-FA1A-A600-7E995AA84643}"/>
              </a:ext>
            </a:extLst>
          </p:cNvPr>
          <p:cNvCxnSpPr>
            <a:cxnSpLocks/>
          </p:cNvCxnSpPr>
          <p:nvPr/>
        </p:nvCxnSpPr>
        <p:spPr>
          <a:xfrm>
            <a:off x="6205875" y="4134580"/>
            <a:ext cx="108006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苹果高管谈 M1 芯片开发历程：软硬件工程四年前已立项|苹果|软件|性能_新浪科技_新浪网">
            <a:extLst>
              <a:ext uri="{FF2B5EF4-FFF2-40B4-BE49-F238E27FC236}">
                <a16:creationId xmlns:a16="http://schemas.microsoft.com/office/drawing/2014/main" id="{D6B5F7CC-0931-222F-A95D-2537D9711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089" y="2743744"/>
            <a:ext cx="4575591" cy="278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1E7FE1F-D5F7-7016-DAE3-2D96CC92DDA5}"/>
              </a:ext>
            </a:extLst>
          </p:cNvPr>
          <p:cNvSpPr txBox="1"/>
          <p:nvPr/>
        </p:nvSpPr>
        <p:spPr>
          <a:xfrm>
            <a:off x="7442089" y="2024580"/>
            <a:ext cx="4493538" cy="5810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后面我们把它简化成这种示意图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4482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9C0C-2865-5AD9-E700-745D5BFE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EFF1339-1FB6-30A3-113E-D8836FF038DC}"/>
              </a:ext>
            </a:extLst>
          </p:cNvPr>
          <p:cNvSpPr txBox="1"/>
          <p:nvPr/>
        </p:nvSpPr>
        <p:spPr>
          <a:xfrm>
            <a:off x="2098067" y="219699"/>
            <a:ext cx="326243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内核与芯片之间的关系</a:t>
            </a:r>
          </a:p>
        </p:txBody>
      </p:sp>
      <p:pic>
        <p:nvPicPr>
          <p:cNvPr id="3078" name="Picture 6" descr="Apple представила собственный процессор M1 | вебисторий">
            <a:extLst>
              <a:ext uri="{FF2B5EF4-FFF2-40B4-BE49-F238E27FC236}">
                <a16:creationId xmlns:a16="http://schemas.microsoft.com/office/drawing/2014/main" id="{D0CB6B9D-562F-21A9-7CE5-8053036C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97" y="3114504"/>
            <a:ext cx="3840956" cy="3200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50784E6-AE39-F906-39A6-6026C7E916F4}"/>
              </a:ext>
            </a:extLst>
          </p:cNvPr>
          <p:cNvSpPr txBox="1"/>
          <p:nvPr/>
        </p:nvSpPr>
        <p:spPr>
          <a:xfrm>
            <a:off x="825090" y="837483"/>
            <a:ext cx="10541819" cy="21209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我们习惯上将 </a:t>
            </a:r>
            <a:r>
              <a:rPr lang="en-US" altLang="zh-CN" b="1" dirty="0"/>
              <a:t>M1</a:t>
            </a:r>
            <a:r>
              <a:rPr lang="zh-CN" altLang="en-US" dirty="0"/>
              <a:t> 这样的芯片称为 </a:t>
            </a:r>
            <a:r>
              <a:rPr lang="en-US" altLang="zh-CN" b="1" dirty="0"/>
              <a:t>CPU</a:t>
            </a:r>
            <a:r>
              <a:rPr lang="zh-CN" altLang="en-US" dirty="0"/>
              <a:t>，但在现代芯片设计中，</a:t>
            </a:r>
            <a:r>
              <a:rPr lang="en-US" altLang="zh-CN" b="1" dirty="0"/>
              <a:t>CPU</a:t>
            </a:r>
            <a:r>
              <a:rPr lang="zh-CN" altLang="en-US" dirty="0"/>
              <a:t> 实际上只是整个芯片中的一个组成部分。如今的芯片通常是 </a:t>
            </a:r>
            <a:r>
              <a:rPr lang="en-US" altLang="zh-CN" b="1" dirty="0"/>
              <a:t>SoC</a:t>
            </a:r>
            <a:r>
              <a:rPr lang="zh-CN" altLang="en-US" b="1" dirty="0"/>
              <a:t>（</a:t>
            </a:r>
            <a:r>
              <a:rPr lang="en-US" altLang="zh-CN" b="1" dirty="0"/>
              <a:t>System on Chip</a:t>
            </a:r>
            <a:r>
              <a:rPr lang="zh-CN" altLang="en-US" b="1" dirty="0"/>
              <a:t>）</a:t>
            </a:r>
            <a:r>
              <a:rPr lang="zh-CN" altLang="en-US" dirty="0"/>
              <a:t>，即</a:t>
            </a:r>
            <a:r>
              <a:rPr lang="zh-CN" altLang="en-US" b="1" dirty="0"/>
              <a:t>片上系统</a:t>
            </a:r>
            <a:r>
              <a:rPr lang="zh-CN" altLang="en-US" dirty="0"/>
              <a:t>，其中不仅包含 </a:t>
            </a:r>
            <a:r>
              <a:rPr lang="en-US" altLang="zh-CN" dirty="0"/>
              <a:t>CPU</a:t>
            </a:r>
            <a:r>
              <a:rPr lang="zh-CN" altLang="en-US" dirty="0"/>
              <a:t>，还集成了 </a:t>
            </a:r>
            <a:r>
              <a:rPr lang="en-US" altLang="zh-CN" b="1" dirty="0"/>
              <a:t>NPU</a:t>
            </a:r>
            <a:r>
              <a:rPr lang="zh-CN" altLang="en-US" b="1" dirty="0"/>
              <a:t>（神经网络处理单元）</a:t>
            </a:r>
            <a:r>
              <a:rPr lang="zh-CN" altLang="en-US" dirty="0"/>
              <a:t>、</a:t>
            </a:r>
            <a:r>
              <a:rPr lang="en-US" altLang="zh-CN" b="1" dirty="0"/>
              <a:t>GPU</a:t>
            </a:r>
            <a:r>
              <a:rPr lang="zh-CN" altLang="en-US" b="1" dirty="0"/>
              <a:t>（图形处理单元）</a:t>
            </a:r>
            <a:r>
              <a:rPr lang="zh-CN" altLang="en-US" dirty="0"/>
              <a:t>、</a:t>
            </a:r>
            <a:r>
              <a:rPr lang="en-US" altLang="zh-CN" b="1" dirty="0"/>
              <a:t>I/O </a:t>
            </a:r>
            <a:r>
              <a:rPr lang="zh-CN" altLang="en-US" b="1" dirty="0"/>
              <a:t>接口</a:t>
            </a:r>
            <a:r>
              <a:rPr lang="zh-CN" altLang="en-US" dirty="0"/>
              <a:t>等模块。这些模块各自负责特定任务，如 </a:t>
            </a:r>
            <a:r>
              <a:rPr lang="en-US" altLang="zh-CN" dirty="0"/>
              <a:t>GPU </a:t>
            </a:r>
            <a:r>
              <a:rPr lang="zh-CN" altLang="en-US" dirty="0"/>
              <a:t>处理图形渲染，</a:t>
            </a:r>
            <a:r>
              <a:rPr lang="en-US" altLang="zh-CN" dirty="0"/>
              <a:t>NPU </a:t>
            </a:r>
            <a:r>
              <a:rPr lang="zh-CN" altLang="en-US" dirty="0"/>
              <a:t>加速 </a:t>
            </a:r>
            <a:r>
              <a:rPr lang="en-US" altLang="zh-CN" dirty="0"/>
              <a:t>AI </a:t>
            </a:r>
            <a:r>
              <a:rPr lang="zh-CN" altLang="en-US" dirty="0"/>
              <a:t>计算。然而，</a:t>
            </a:r>
            <a:r>
              <a:rPr lang="en-US" altLang="zh-CN" b="1" dirty="0"/>
              <a:t>CPU </a:t>
            </a:r>
            <a:r>
              <a:rPr lang="zh-CN" altLang="en-US" b="1" dirty="0"/>
              <a:t>作为主控单元</a:t>
            </a:r>
            <a:r>
              <a:rPr lang="zh-CN" altLang="en-US" dirty="0"/>
              <a:t>，负责对这些模块进行</a:t>
            </a:r>
            <a:r>
              <a:rPr lang="zh-CN" altLang="en-US" b="1" dirty="0"/>
              <a:t>调度和协调</a:t>
            </a:r>
            <a:r>
              <a:rPr lang="zh-CN" altLang="en-US" dirty="0"/>
              <a:t>，确保它们协同工作，从而实现芯片整体的高效运行。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82" name="Picture 10" descr="认识主板芯片组和总线 - 哔哩哔哩">
            <a:extLst>
              <a:ext uri="{FF2B5EF4-FFF2-40B4-BE49-F238E27FC236}">
                <a16:creationId xmlns:a16="http://schemas.microsoft.com/office/drawing/2014/main" id="{4F56D9CB-B402-9BB3-A426-70691851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153" y="3589972"/>
            <a:ext cx="45148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47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284F-AA1D-C703-D532-557701B2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pple представила собственный процессор M1 | вебисторий">
            <a:extLst>
              <a:ext uri="{FF2B5EF4-FFF2-40B4-BE49-F238E27FC236}">
                <a16:creationId xmlns:a16="http://schemas.microsoft.com/office/drawing/2014/main" id="{1878068C-92C8-1AB9-2BB4-BB4666AD1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5" t="6255" r="12493" b="7818"/>
          <a:stretch/>
        </p:blipFill>
        <p:spPr bwMode="auto">
          <a:xfrm>
            <a:off x="1455420" y="1042987"/>
            <a:ext cx="2843212" cy="27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3A3C1EA-0E94-6619-9ACB-DF1329FC34EE}"/>
              </a:ext>
            </a:extLst>
          </p:cNvPr>
          <p:cNvSpPr txBox="1"/>
          <p:nvPr/>
        </p:nvSpPr>
        <p:spPr>
          <a:xfrm>
            <a:off x="2098067" y="219699"/>
            <a:ext cx="1723549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什么是内核</a:t>
            </a:r>
          </a:p>
        </p:txBody>
      </p:sp>
      <p:pic>
        <p:nvPicPr>
          <p:cNvPr id="4" name="Picture 10" descr="认识主板芯片组和总线 - 哔哩哔哩">
            <a:extLst>
              <a:ext uri="{FF2B5EF4-FFF2-40B4-BE49-F238E27FC236}">
                <a16:creationId xmlns:a16="http://schemas.microsoft.com/office/drawing/2014/main" id="{DC0AA43C-F126-F973-35A7-5CD64615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16" y="3952902"/>
            <a:ext cx="45148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664B48-FD28-094F-47BE-66651F4F3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294" y="892350"/>
            <a:ext cx="1423426" cy="1420694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B1D748B-A6AD-A450-4744-EC602360689F}"/>
              </a:ext>
            </a:extLst>
          </p:cNvPr>
          <p:cNvSpPr/>
          <p:nvPr/>
        </p:nvSpPr>
        <p:spPr>
          <a:xfrm>
            <a:off x="2628900" y="1435894"/>
            <a:ext cx="4457700" cy="1085850"/>
          </a:xfrm>
          <a:custGeom>
            <a:avLst/>
            <a:gdLst>
              <a:gd name="connsiteX0" fmla="*/ 0 w 4457700"/>
              <a:gd name="connsiteY0" fmla="*/ 957262 h 1085850"/>
              <a:gd name="connsiteX1" fmla="*/ 135731 w 4457700"/>
              <a:gd name="connsiteY1" fmla="*/ 764381 h 1085850"/>
              <a:gd name="connsiteX2" fmla="*/ 228600 w 4457700"/>
              <a:gd name="connsiteY2" fmla="*/ 685800 h 1085850"/>
              <a:gd name="connsiteX3" fmla="*/ 357188 w 4457700"/>
              <a:gd name="connsiteY3" fmla="*/ 592931 h 1085850"/>
              <a:gd name="connsiteX4" fmla="*/ 607219 w 4457700"/>
              <a:gd name="connsiteY4" fmla="*/ 457200 h 1085850"/>
              <a:gd name="connsiteX5" fmla="*/ 957263 w 4457700"/>
              <a:gd name="connsiteY5" fmla="*/ 314325 h 1085850"/>
              <a:gd name="connsiteX6" fmla="*/ 1171575 w 4457700"/>
              <a:gd name="connsiteY6" fmla="*/ 271462 h 1085850"/>
              <a:gd name="connsiteX7" fmla="*/ 1850231 w 4457700"/>
              <a:gd name="connsiteY7" fmla="*/ 192881 h 1085850"/>
              <a:gd name="connsiteX8" fmla="*/ 2800350 w 4457700"/>
              <a:gd name="connsiteY8" fmla="*/ 235744 h 1085850"/>
              <a:gd name="connsiteX9" fmla="*/ 2978944 w 4457700"/>
              <a:gd name="connsiteY9" fmla="*/ 285750 h 1085850"/>
              <a:gd name="connsiteX10" fmla="*/ 3128963 w 4457700"/>
              <a:gd name="connsiteY10" fmla="*/ 392906 h 1085850"/>
              <a:gd name="connsiteX11" fmla="*/ 3178969 w 4457700"/>
              <a:gd name="connsiteY11" fmla="*/ 492919 h 1085850"/>
              <a:gd name="connsiteX12" fmla="*/ 3207544 w 4457700"/>
              <a:gd name="connsiteY12" fmla="*/ 707231 h 1085850"/>
              <a:gd name="connsiteX13" fmla="*/ 3164681 w 4457700"/>
              <a:gd name="connsiteY13" fmla="*/ 814387 h 1085850"/>
              <a:gd name="connsiteX14" fmla="*/ 3078956 w 4457700"/>
              <a:gd name="connsiteY14" fmla="*/ 957262 h 1085850"/>
              <a:gd name="connsiteX15" fmla="*/ 2907506 w 4457700"/>
              <a:gd name="connsiteY15" fmla="*/ 1064419 h 1085850"/>
              <a:gd name="connsiteX16" fmla="*/ 2771775 w 4457700"/>
              <a:gd name="connsiteY16" fmla="*/ 1085850 h 1085850"/>
              <a:gd name="connsiteX17" fmla="*/ 2578894 w 4457700"/>
              <a:gd name="connsiteY17" fmla="*/ 1057275 h 1085850"/>
              <a:gd name="connsiteX18" fmla="*/ 2514600 w 4457700"/>
              <a:gd name="connsiteY18" fmla="*/ 992981 h 1085850"/>
              <a:gd name="connsiteX19" fmla="*/ 2457450 w 4457700"/>
              <a:gd name="connsiteY19" fmla="*/ 885825 h 1085850"/>
              <a:gd name="connsiteX20" fmla="*/ 2443163 w 4457700"/>
              <a:gd name="connsiteY20" fmla="*/ 535781 h 1085850"/>
              <a:gd name="connsiteX21" fmla="*/ 2486025 w 4457700"/>
              <a:gd name="connsiteY21" fmla="*/ 464344 h 1085850"/>
              <a:gd name="connsiteX22" fmla="*/ 2650331 w 4457700"/>
              <a:gd name="connsiteY22" fmla="*/ 335756 h 1085850"/>
              <a:gd name="connsiteX23" fmla="*/ 2757488 w 4457700"/>
              <a:gd name="connsiteY23" fmla="*/ 278606 h 1085850"/>
              <a:gd name="connsiteX24" fmla="*/ 2871788 w 4457700"/>
              <a:gd name="connsiteY24" fmla="*/ 235744 h 1085850"/>
              <a:gd name="connsiteX25" fmla="*/ 3278981 w 4457700"/>
              <a:gd name="connsiteY25" fmla="*/ 107156 h 1085850"/>
              <a:gd name="connsiteX26" fmla="*/ 3543300 w 4457700"/>
              <a:gd name="connsiteY26" fmla="*/ 35719 h 1085850"/>
              <a:gd name="connsiteX27" fmla="*/ 3857625 w 4457700"/>
              <a:gd name="connsiteY27" fmla="*/ 0 h 1085850"/>
              <a:gd name="connsiteX28" fmla="*/ 4229100 w 4457700"/>
              <a:gd name="connsiteY28" fmla="*/ 14287 h 1085850"/>
              <a:gd name="connsiteX29" fmla="*/ 4336256 w 4457700"/>
              <a:gd name="connsiteY29" fmla="*/ 50006 h 1085850"/>
              <a:gd name="connsiteX30" fmla="*/ 4386263 w 4457700"/>
              <a:gd name="connsiteY30" fmla="*/ 64294 h 1085850"/>
              <a:gd name="connsiteX31" fmla="*/ 4457700 w 4457700"/>
              <a:gd name="connsiteY31" fmla="*/ 85725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457700" h="1085850" extrusionOk="0">
                <a:moveTo>
                  <a:pt x="0" y="957262"/>
                </a:moveTo>
                <a:cubicBezTo>
                  <a:pt x="57764" y="874986"/>
                  <a:pt x="59788" y="833229"/>
                  <a:pt x="135731" y="764381"/>
                </a:cubicBezTo>
                <a:cubicBezTo>
                  <a:pt x="160420" y="724883"/>
                  <a:pt x="193471" y="710231"/>
                  <a:pt x="228600" y="685800"/>
                </a:cubicBezTo>
                <a:cubicBezTo>
                  <a:pt x="261326" y="651390"/>
                  <a:pt x="307892" y="634753"/>
                  <a:pt x="357188" y="592931"/>
                </a:cubicBezTo>
                <a:cubicBezTo>
                  <a:pt x="428057" y="551254"/>
                  <a:pt x="518198" y="513445"/>
                  <a:pt x="607219" y="457200"/>
                </a:cubicBezTo>
                <a:cubicBezTo>
                  <a:pt x="684037" y="435735"/>
                  <a:pt x="904222" y="342403"/>
                  <a:pt x="957263" y="314325"/>
                </a:cubicBezTo>
                <a:cubicBezTo>
                  <a:pt x="1030318" y="298187"/>
                  <a:pt x="1098478" y="288219"/>
                  <a:pt x="1171575" y="271462"/>
                </a:cubicBezTo>
                <a:cubicBezTo>
                  <a:pt x="1457474" y="208678"/>
                  <a:pt x="1529848" y="223886"/>
                  <a:pt x="1850231" y="192881"/>
                </a:cubicBezTo>
                <a:cubicBezTo>
                  <a:pt x="2214002" y="170950"/>
                  <a:pt x="2474419" y="198234"/>
                  <a:pt x="2800350" y="235744"/>
                </a:cubicBezTo>
                <a:cubicBezTo>
                  <a:pt x="2860246" y="256067"/>
                  <a:pt x="2903690" y="268207"/>
                  <a:pt x="2978944" y="285750"/>
                </a:cubicBezTo>
                <a:cubicBezTo>
                  <a:pt x="3019367" y="308072"/>
                  <a:pt x="3086366" y="335037"/>
                  <a:pt x="3128963" y="392906"/>
                </a:cubicBezTo>
                <a:cubicBezTo>
                  <a:pt x="3151778" y="421620"/>
                  <a:pt x="3160675" y="457850"/>
                  <a:pt x="3178969" y="492919"/>
                </a:cubicBezTo>
                <a:cubicBezTo>
                  <a:pt x="3196991" y="545816"/>
                  <a:pt x="3228828" y="635627"/>
                  <a:pt x="3207544" y="707231"/>
                </a:cubicBezTo>
                <a:cubicBezTo>
                  <a:pt x="3206859" y="745590"/>
                  <a:pt x="3172176" y="783814"/>
                  <a:pt x="3164681" y="814387"/>
                </a:cubicBezTo>
                <a:cubicBezTo>
                  <a:pt x="3132708" y="865491"/>
                  <a:pt x="3111886" y="914374"/>
                  <a:pt x="3078956" y="957262"/>
                </a:cubicBezTo>
                <a:cubicBezTo>
                  <a:pt x="3036402" y="1000639"/>
                  <a:pt x="2961280" y="1052907"/>
                  <a:pt x="2907506" y="1064419"/>
                </a:cubicBezTo>
                <a:cubicBezTo>
                  <a:pt x="2871924" y="1077894"/>
                  <a:pt x="2818911" y="1083131"/>
                  <a:pt x="2771775" y="1085850"/>
                </a:cubicBezTo>
                <a:cubicBezTo>
                  <a:pt x="2731292" y="1095479"/>
                  <a:pt x="2635119" y="1094309"/>
                  <a:pt x="2578894" y="1057275"/>
                </a:cubicBezTo>
                <a:cubicBezTo>
                  <a:pt x="2551518" y="1042700"/>
                  <a:pt x="2530531" y="1014097"/>
                  <a:pt x="2514600" y="992981"/>
                </a:cubicBezTo>
                <a:cubicBezTo>
                  <a:pt x="2501941" y="956420"/>
                  <a:pt x="2477115" y="910944"/>
                  <a:pt x="2457450" y="885825"/>
                </a:cubicBezTo>
                <a:cubicBezTo>
                  <a:pt x="2432013" y="740374"/>
                  <a:pt x="2419889" y="725428"/>
                  <a:pt x="2443163" y="535781"/>
                </a:cubicBezTo>
                <a:cubicBezTo>
                  <a:pt x="2446441" y="505905"/>
                  <a:pt x="2466725" y="484895"/>
                  <a:pt x="2486025" y="464344"/>
                </a:cubicBezTo>
                <a:cubicBezTo>
                  <a:pt x="2536459" y="405061"/>
                  <a:pt x="2592897" y="366475"/>
                  <a:pt x="2650331" y="335756"/>
                </a:cubicBezTo>
                <a:cubicBezTo>
                  <a:pt x="2688936" y="317234"/>
                  <a:pt x="2724024" y="288799"/>
                  <a:pt x="2757488" y="278606"/>
                </a:cubicBezTo>
                <a:cubicBezTo>
                  <a:pt x="2790731" y="258855"/>
                  <a:pt x="2827730" y="241498"/>
                  <a:pt x="2871788" y="235744"/>
                </a:cubicBezTo>
                <a:cubicBezTo>
                  <a:pt x="3013347" y="197902"/>
                  <a:pt x="3157654" y="110135"/>
                  <a:pt x="3278981" y="107156"/>
                </a:cubicBezTo>
                <a:cubicBezTo>
                  <a:pt x="3383086" y="64075"/>
                  <a:pt x="3466740" y="34781"/>
                  <a:pt x="3543300" y="35719"/>
                </a:cubicBezTo>
                <a:cubicBezTo>
                  <a:pt x="3627810" y="16298"/>
                  <a:pt x="3774342" y="20771"/>
                  <a:pt x="3857625" y="0"/>
                </a:cubicBezTo>
                <a:cubicBezTo>
                  <a:pt x="4002892" y="-23610"/>
                  <a:pt x="4101500" y="7026"/>
                  <a:pt x="4229100" y="14287"/>
                </a:cubicBezTo>
                <a:cubicBezTo>
                  <a:pt x="4306662" y="20358"/>
                  <a:pt x="4274186" y="30439"/>
                  <a:pt x="4336256" y="50006"/>
                </a:cubicBezTo>
                <a:cubicBezTo>
                  <a:pt x="4351128" y="56886"/>
                  <a:pt x="4370174" y="58483"/>
                  <a:pt x="4386263" y="64294"/>
                </a:cubicBezTo>
                <a:cubicBezTo>
                  <a:pt x="4455276" y="80856"/>
                  <a:pt x="4383626" y="71154"/>
                  <a:pt x="4457700" y="85725"/>
                </a:cubicBezTo>
              </a:path>
            </a:pathLst>
          </a:custGeom>
          <a:noFill/>
          <a:ln w="76200">
            <a:solidFill>
              <a:schemeClr val="accent2"/>
            </a:solidFill>
            <a:headEnd type="none" w="med" len="med"/>
            <a:tailEnd type="arrow" w="med" len="med"/>
            <a:extLst>
              <a:ext uri="{C807C97D-BFC1-408E-A445-0C87EB9F89A2}">
                <ask:lineSketchStyleProps xmlns:ask="http://schemas.microsoft.com/office/drawing/2018/sketchyshapes" sd="3844312185">
                  <a:custGeom>
                    <a:avLst/>
                    <a:gdLst>
                      <a:gd name="connsiteX0" fmla="*/ 0 w 4457700"/>
                      <a:gd name="connsiteY0" fmla="*/ 957262 h 1085850"/>
                      <a:gd name="connsiteX1" fmla="*/ 135731 w 4457700"/>
                      <a:gd name="connsiteY1" fmla="*/ 764381 h 1085850"/>
                      <a:gd name="connsiteX2" fmla="*/ 228600 w 4457700"/>
                      <a:gd name="connsiteY2" fmla="*/ 685800 h 1085850"/>
                      <a:gd name="connsiteX3" fmla="*/ 357188 w 4457700"/>
                      <a:gd name="connsiteY3" fmla="*/ 592931 h 1085850"/>
                      <a:gd name="connsiteX4" fmla="*/ 607219 w 4457700"/>
                      <a:gd name="connsiteY4" fmla="*/ 457200 h 1085850"/>
                      <a:gd name="connsiteX5" fmla="*/ 957263 w 4457700"/>
                      <a:gd name="connsiteY5" fmla="*/ 314325 h 1085850"/>
                      <a:gd name="connsiteX6" fmla="*/ 1171575 w 4457700"/>
                      <a:gd name="connsiteY6" fmla="*/ 271462 h 1085850"/>
                      <a:gd name="connsiteX7" fmla="*/ 1850231 w 4457700"/>
                      <a:gd name="connsiteY7" fmla="*/ 192881 h 1085850"/>
                      <a:gd name="connsiteX8" fmla="*/ 2800350 w 4457700"/>
                      <a:gd name="connsiteY8" fmla="*/ 235744 h 1085850"/>
                      <a:gd name="connsiteX9" fmla="*/ 2978944 w 4457700"/>
                      <a:gd name="connsiteY9" fmla="*/ 285750 h 1085850"/>
                      <a:gd name="connsiteX10" fmla="*/ 3128963 w 4457700"/>
                      <a:gd name="connsiteY10" fmla="*/ 392906 h 1085850"/>
                      <a:gd name="connsiteX11" fmla="*/ 3178969 w 4457700"/>
                      <a:gd name="connsiteY11" fmla="*/ 492919 h 1085850"/>
                      <a:gd name="connsiteX12" fmla="*/ 3207544 w 4457700"/>
                      <a:gd name="connsiteY12" fmla="*/ 707231 h 1085850"/>
                      <a:gd name="connsiteX13" fmla="*/ 3164681 w 4457700"/>
                      <a:gd name="connsiteY13" fmla="*/ 814387 h 1085850"/>
                      <a:gd name="connsiteX14" fmla="*/ 3078956 w 4457700"/>
                      <a:gd name="connsiteY14" fmla="*/ 957262 h 1085850"/>
                      <a:gd name="connsiteX15" fmla="*/ 2907506 w 4457700"/>
                      <a:gd name="connsiteY15" fmla="*/ 1064419 h 1085850"/>
                      <a:gd name="connsiteX16" fmla="*/ 2771775 w 4457700"/>
                      <a:gd name="connsiteY16" fmla="*/ 1085850 h 1085850"/>
                      <a:gd name="connsiteX17" fmla="*/ 2578894 w 4457700"/>
                      <a:gd name="connsiteY17" fmla="*/ 1057275 h 1085850"/>
                      <a:gd name="connsiteX18" fmla="*/ 2514600 w 4457700"/>
                      <a:gd name="connsiteY18" fmla="*/ 992981 h 1085850"/>
                      <a:gd name="connsiteX19" fmla="*/ 2457450 w 4457700"/>
                      <a:gd name="connsiteY19" fmla="*/ 885825 h 1085850"/>
                      <a:gd name="connsiteX20" fmla="*/ 2443163 w 4457700"/>
                      <a:gd name="connsiteY20" fmla="*/ 535781 h 1085850"/>
                      <a:gd name="connsiteX21" fmla="*/ 2486025 w 4457700"/>
                      <a:gd name="connsiteY21" fmla="*/ 464344 h 1085850"/>
                      <a:gd name="connsiteX22" fmla="*/ 2650331 w 4457700"/>
                      <a:gd name="connsiteY22" fmla="*/ 335756 h 1085850"/>
                      <a:gd name="connsiteX23" fmla="*/ 2757488 w 4457700"/>
                      <a:gd name="connsiteY23" fmla="*/ 278606 h 1085850"/>
                      <a:gd name="connsiteX24" fmla="*/ 2871788 w 4457700"/>
                      <a:gd name="connsiteY24" fmla="*/ 235744 h 1085850"/>
                      <a:gd name="connsiteX25" fmla="*/ 3278981 w 4457700"/>
                      <a:gd name="connsiteY25" fmla="*/ 107156 h 1085850"/>
                      <a:gd name="connsiteX26" fmla="*/ 3543300 w 4457700"/>
                      <a:gd name="connsiteY26" fmla="*/ 35719 h 1085850"/>
                      <a:gd name="connsiteX27" fmla="*/ 3857625 w 4457700"/>
                      <a:gd name="connsiteY27" fmla="*/ 0 h 1085850"/>
                      <a:gd name="connsiteX28" fmla="*/ 4229100 w 4457700"/>
                      <a:gd name="connsiteY28" fmla="*/ 14287 h 1085850"/>
                      <a:gd name="connsiteX29" fmla="*/ 4336256 w 4457700"/>
                      <a:gd name="connsiteY29" fmla="*/ 50006 h 1085850"/>
                      <a:gd name="connsiteX30" fmla="*/ 4386263 w 4457700"/>
                      <a:gd name="connsiteY30" fmla="*/ 64294 h 1085850"/>
                      <a:gd name="connsiteX31" fmla="*/ 4457700 w 4457700"/>
                      <a:gd name="connsiteY31" fmla="*/ 85725 h 10858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57700" h="1085850">
                        <a:moveTo>
                          <a:pt x="0" y="957262"/>
                        </a:moveTo>
                        <a:cubicBezTo>
                          <a:pt x="49091" y="873105"/>
                          <a:pt x="62474" y="840568"/>
                          <a:pt x="135731" y="764381"/>
                        </a:cubicBezTo>
                        <a:cubicBezTo>
                          <a:pt x="163837" y="735150"/>
                          <a:pt x="196535" y="710624"/>
                          <a:pt x="228600" y="685800"/>
                        </a:cubicBezTo>
                        <a:cubicBezTo>
                          <a:pt x="270408" y="653433"/>
                          <a:pt x="313002" y="621967"/>
                          <a:pt x="357188" y="592931"/>
                        </a:cubicBezTo>
                        <a:cubicBezTo>
                          <a:pt x="430475" y="544771"/>
                          <a:pt x="527908" y="493954"/>
                          <a:pt x="607219" y="457200"/>
                        </a:cubicBezTo>
                        <a:cubicBezTo>
                          <a:pt x="675091" y="425747"/>
                          <a:pt x="890465" y="333410"/>
                          <a:pt x="957263" y="314325"/>
                        </a:cubicBezTo>
                        <a:cubicBezTo>
                          <a:pt x="1027312" y="294311"/>
                          <a:pt x="1099742" y="283603"/>
                          <a:pt x="1171575" y="271462"/>
                        </a:cubicBezTo>
                        <a:cubicBezTo>
                          <a:pt x="1467430" y="221458"/>
                          <a:pt x="1529572" y="222572"/>
                          <a:pt x="1850231" y="192881"/>
                        </a:cubicBezTo>
                        <a:cubicBezTo>
                          <a:pt x="2233027" y="196787"/>
                          <a:pt x="2464122" y="168498"/>
                          <a:pt x="2800350" y="235744"/>
                        </a:cubicBezTo>
                        <a:cubicBezTo>
                          <a:pt x="2860970" y="247868"/>
                          <a:pt x="2919413" y="269081"/>
                          <a:pt x="2978944" y="285750"/>
                        </a:cubicBezTo>
                        <a:cubicBezTo>
                          <a:pt x="3017881" y="309112"/>
                          <a:pt x="3098141" y="345487"/>
                          <a:pt x="3128963" y="392906"/>
                        </a:cubicBezTo>
                        <a:cubicBezTo>
                          <a:pt x="3149276" y="424157"/>
                          <a:pt x="3162300" y="459581"/>
                          <a:pt x="3178969" y="492919"/>
                        </a:cubicBezTo>
                        <a:cubicBezTo>
                          <a:pt x="3191484" y="551321"/>
                          <a:pt x="3217212" y="647287"/>
                          <a:pt x="3207544" y="707231"/>
                        </a:cubicBezTo>
                        <a:cubicBezTo>
                          <a:pt x="3201418" y="745210"/>
                          <a:pt x="3182275" y="780176"/>
                          <a:pt x="3164681" y="814387"/>
                        </a:cubicBezTo>
                        <a:cubicBezTo>
                          <a:pt x="3139280" y="863778"/>
                          <a:pt x="3113468" y="913747"/>
                          <a:pt x="3078956" y="957262"/>
                        </a:cubicBezTo>
                        <a:cubicBezTo>
                          <a:pt x="3044002" y="1001334"/>
                          <a:pt x="2960571" y="1049494"/>
                          <a:pt x="2907506" y="1064419"/>
                        </a:cubicBezTo>
                        <a:cubicBezTo>
                          <a:pt x="2863413" y="1076820"/>
                          <a:pt x="2817019" y="1078706"/>
                          <a:pt x="2771775" y="1085850"/>
                        </a:cubicBezTo>
                        <a:cubicBezTo>
                          <a:pt x="2729649" y="1083372"/>
                          <a:pt x="2625329" y="1086603"/>
                          <a:pt x="2578894" y="1057275"/>
                        </a:cubicBezTo>
                        <a:cubicBezTo>
                          <a:pt x="2553269" y="1041090"/>
                          <a:pt x="2532119" y="1017713"/>
                          <a:pt x="2514600" y="992981"/>
                        </a:cubicBezTo>
                        <a:cubicBezTo>
                          <a:pt x="2491201" y="959947"/>
                          <a:pt x="2476500" y="921544"/>
                          <a:pt x="2457450" y="885825"/>
                        </a:cubicBezTo>
                        <a:cubicBezTo>
                          <a:pt x="2427097" y="744174"/>
                          <a:pt x="2414142" y="722344"/>
                          <a:pt x="2443163" y="535781"/>
                        </a:cubicBezTo>
                        <a:cubicBezTo>
                          <a:pt x="2447431" y="508341"/>
                          <a:pt x="2468040" y="485503"/>
                          <a:pt x="2486025" y="464344"/>
                        </a:cubicBezTo>
                        <a:cubicBezTo>
                          <a:pt x="2527334" y="415745"/>
                          <a:pt x="2595963" y="367974"/>
                          <a:pt x="2650331" y="335756"/>
                        </a:cubicBezTo>
                        <a:cubicBezTo>
                          <a:pt x="2685157" y="315119"/>
                          <a:pt x="2720594" y="295268"/>
                          <a:pt x="2757488" y="278606"/>
                        </a:cubicBezTo>
                        <a:cubicBezTo>
                          <a:pt x="2794572" y="261858"/>
                          <a:pt x="2833133" y="248453"/>
                          <a:pt x="2871788" y="235744"/>
                        </a:cubicBezTo>
                        <a:cubicBezTo>
                          <a:pt x="3007006" y="191289"/>
                          <a:pt x="3141573" y="144293"/>
                          <a:pt x="3278981" y="107156"/>
                        </a:cubicBezTo>
                        <a:cubicBezTo>
                          <a:pt x="3367087" y="83344"/>
                          <a:pt x="3453558" y="52338"/>
                          <a:pt x="3543300" y="35719"/>
                        </a:cubicBezTo>
                        <a:cubicBezTo>
                          <a:pt x="3646986" y="16518"/>
                          <a:pt x="3752850" y="11906"/>
                          <a:pt x="3857625" y="0"/>
                        </a:cubicBezTo>
                        <a:cubicBezTo>
                          <a:pt x="3981450" y="4762"/>
                          <a:pt x="4105449" y="6179"/>
                          <a:pt x="4229100" y="14287"/>
                        </a:cubicBezTo>
                        <a:cubicBezTo>
                          <a:pt x="4300826" y="18990"/>
                          <a:pt x="4279695" y="28252"/>
                          <a:pt x="4336256" y="50006"/>
                        </a:cubicBezTo>
                        <a:cubicBezTo>
                          <a:pt x="4352437" y="56229"/>
                          <a:pt x="4369817" y="58812"/>
                          <a:pt x="4386263" y="64294"/>
                        </a:cubicBezTo>
                        <a:cubicBezTo>
                          <a:pt x="4456750" y="87790"/>
                          <a:pt x="4387160" y="71617"/>
                          <a:pt x="4457700" y="85725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823AB4-1FA0-382F-B4C2-1D0D29CF66D2}"/>
              </a:ext>
            </a:extLst>
          </p:cNvPr>
          <p:cNvSpPr txBox="1"/>
          <p:nvPr/>
        </p:nvSpPr>
        <p:spPr>
          <a:xfrm>
            <a:off x="5661410" y="2814638"/>
            <a:ext cx="6382954" cy="25359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当我们说某款芯片</a:t>
            </a:r>
            <a:r>
              <a:rPr lang="zh-CN" altLang="en-US" b="1" dirty="0"/>
              <a:t>基于 </a:t>
            </a:r>
            <a:r>
              <a:rPr lang="en-US" altLang="zh-CN" b="1" dirty="0"/>
              <a:t>ARM </a:t>
            </a:r>
            <a:r>
              <a:rPr lang="zh-CN" altLang="en-US" b="1" dirty="0"/>
              <a:t>架构</a:t>
            </a:r>
            <a:r>
              <a:rPr lang="zh-CN" altLang="en-US" dirty="0"/>
              <a:t>或</a:t>
            </a:r>
            <a:r>
              <a:rPr lang="zh-CN" altLang="en-US" b="1" dirty="0"/>
              <a:t>采用 </a:t>
            </a:r>
            <a:r>
              <a:rPr lang="en-US" altLang="zh-CN" b="1" dirty="0"/>
              <a:t>ARM </a:t>
            </a:r>
            <a:r>
              <a:rPr lang="zh-CN" altLang="en-US" b="1" dirty="0"/>
              <a:t>内核</a:t>
            </a:r>
            <a:r>
              <a:rPr lang="zh-CN" altLang="en-US" dirty="0"/>
              <a:t>，通常是指该芯片的 </a:t>
            </a:r>
            <a:r>
              <a:rPr lang="en-US" altLang="zh-CN" b="1" dirty="0"/>
              <a:t>CPU </a:t>
            </a:r>
            <a:r>
              <a:rPr lang="zh-CN" altLang="en-US" b="1" dirty="0"/>
              <a:t>核心</a:t>
            </a:r>
            <a:r>
              <a:rPr lang="zh-CN" altLang="en-US" dirty="0"/>
              <a:t>是 </a:t>
            </a:r>
            <a:r>
              <a:rPr lang="en-US" altLang="zh-CN" b="1" dirty="0"/>
              <a:t>ARM </a:t>
            </a:r>
            <a:r>
              <a:rPr lang="zh-CN" altLang="en-US" b="1" dirty="0"/>
              <a:t>公司授权设计的</a:t>
            </a:r>
            <a:r>
              <a:rPr lang="zh-CN" altLang="en-US" dirty="0"/>
              <a:t>，或直接使用了 </a:t>
            </a:r>
            <a:r>
              <a:rPr lang="en-US" altLang="zh-CN" dirty="0"/>
              <a:t>ARM </a:t>
            </a:r>
            <a:r>
              <a:rPr lang="zh-CN" altLang="en-US" dirty="0"/>
              <a:t>的标准设计。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不同的芯片厂商会在 </a:t>
            </a:r>
            <a:r>
              <a:rPr lang="en-US" altLang="zh-CN" dirty="0"/>
              <a:t>ARM </a:t>
            </a:r>
            <a:r>
              <a:rPr lang="zh-CN" altLang="en-US" dirty="0"/>
              <a:t>内核之外添加自定义设计，如 </a:t>
            </a:r>
            <a:r>
              <a:rPr lang="en-US" altLang="zh-CN" dirty="0"/>
              <a:t>GPU</a:t>
            </a:r>
            <a:r>
              <a:rPr lang="zh-CN" altLang="en-US" dirty="0"/>
              <a:t>、</a:t>
            </a:r>
            <a:r>
              <a:rPr lang="en-US" altLang="zh-CN" dirty="0"/>
              <a:t>NPU</a:t>
            </a:r>
            <a:r>
              <a:rPr lang="zh-CN" altLang="en-US" dirty="0"/>
              <a:t>、</a:t>
            </a:r>
            <a:r>
              <a:rPr lang="en-US" altLang="zh-CN" dirty="0"/>
              <a:t>I/O </a:t>
            </a:r>
            <a:r>
              <a:rPr lang="zh-CN" altLang="en-US" dirty="0"/>
              <a:t>接口等模块，构建一整套 </a:t>
            </a:r>
            <a:r>
              <a:rPr lang="en-US" altLang="zh-CN" b="1" dirty="0"/>
              <a:t>SoC</a:t>
            </a:r>
            <a:r>
              <a:rPr lang="zh-CN" altLang="en-US" b="1" dirty="0"/>
              <a:t>（</a:t>
            </a:r>
            <a:r>
              <a:rPr lang="en-US" altLang="zh-CN" b="1" dirty="0"/>
              <a:t>System on Chip</a:t>
            </a:r>
            <a:r>
              <a:rPr lang="zh-CN" altLang="en-US" b="1" dirty="0"/>
              <a:t>） </a:t>
            </a:r>
            <a:r>
              <a:rPr lang="zh-CN" altLang="en-US" dirty="0"/>
              <a:t>系统，并最终进行量产。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991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C57E-85A3-6D0D-A172-7EC16A11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FEF00A-C74B-B151-6DC4-2629F1238F7B}"/>
              </a:ext>
            </a:extLst>
          </p:cNvPr>
          <p:cNvSpPr txBox="1"/>
          <p:nvPr/>
        </p:nvSpPr>
        <p:spPr>
          <a:xfrm>
            <a:off x="2098067" y="219699"/>
            <a:ext cx="2646878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架构和内核的关系</a:t>
            </a:r>
          </a:p>
        </p:txBody>
      </p:sp>
      <p:pic>
        <p:nvPicPr>
          <p:cNvPr id="4098" name="Picture 2" descr="2020双十一手机如何选之手机CPU处理器SOC性能天梯图、后置拍照和前置拍照排行天梯（0903） - 知乎">
            <a:extLst>
              <a:ext uri="{FF2B5EF4-FFF2-40B4-BE49-F238E27FC236}">
                <a16:creationId xmlns:a16="http://schemas.microsoft.com/office/drawing/2014/main" id="{89B86E4F-DAD5-3255-AD27-5ACC7233D7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06"/>
          <a:stretch/>
        </p:blipFill>
        <p:spPr bwMode="auto">
          <a:xfrm>
            <a:off x="267521" y="982239"/>
            <a:ext cx="7023886" cy="526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250781C-089C-54E0-96FC-0B6DDA23E325}"/>
              </a:ext>
            </a:extLst>
          </p:cNvPr>
          <p:cNvSpPr txBox="1"/>
          <p:nvPr/>
        </p:nvSpPr>
        <p:spPr>
          <a:xfrm>
            <a:off x="7622627" y="2348657"/>
            <a:ext cx="3697013" cy="1688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既然大家都使用</a:t>
            </a:r>
            <a:r>
              <a:rPr lang="en-US" altLang="zh-CN" sz="2400" dirty="0">
                <a:solidFill>
                  <a:srgbClr val="FF0000"/>
                </a:solidFill>
              </a:rPr>
              <a:t>ARM</a:t>
            </a:r>
            <a:r>
              <a:rPr lang="zh-CN" altLang="en-US" sz="2400" dirty="0">
                <a:solidFill>
                  <a:srgbClr val="FF0000"/>
                </a:solidFill>
              </a:rPr>
              <a:t>设计的</a:t>
            </a:r>
            <a:r>
              <a:rPr lang="en-US" altLang="zh-CN" sz="2400" dirty="0">
                <a:solidFill>
                  <a:srgbClr val="FF0000"/>
                </a:solidFill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</a:rPr>
              <a:t>，那</a:t>
            </a:r>
            <a:r>
              <a:rPr lang="en-US" altLang="zh-CN" sz="2400" dirty="0">
                <a:solidFill>
                  <a:srgbClr val="FF0000"/>
                </a:solidFill>
              </a:rPr>
              <a:t>SOC</a:t>
            </a:r>
            <a:r>
              <a:rPr lang="zh-CN" altLang="en-US" sz="2400" dirty="0">
                <a:solidFill>
                  <a:srgbClr val="FF0000"/>
                </a:solidFill>
              </a:rPr>
              <a:t>排行榜为什么还有那么大的区别呢？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843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191F-1AA7-B0FA-24ED-74CDB904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8FA43-E858-B7EF-9563-7C7BD3696EDB}"/>
              </a:ext>
            </a:extLst>
          </p:cNvPr>
          <p:cNvSpPr txBox="1"/>
          <p:nvPr/>
        </p:nvSpPr>
        <p:spPr>
          <a:xfrm>
            <a:off x="2098067" y="219699"/>
            <a:ext cx="3003515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的两种授权方式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94EF8C-1FFF-FA89-7E3E-8EA936DB8D3B}"/>
              </a:ext>
            </a:extLst>
          </p:cNvPr>
          <p:cNvSpPr txBox="1"/>
          <p:nvPr/>
        </p:nvSpPr>
        <p:spPr>
          <a:xfrm>
            <a:off x="607219" y="1078707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ARM </a:t>
            </a:r>
            <a:r>
              <a:rPr lang="zh-CN" altLang="en-US" b="1" dirty="0"/>
              <a:t>提供两种主要的授权模式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730EAE-126F-9569-B6F0-09C85F8CED82}"/>
              </a:ext>
            </a:extLst>
          </p:cNvPr>
          <p:cNvSpPr txBox="1"/>
          <p:nvPr/>
        </p:nvSpPr>
        <p:spPr>
          <a:xfrm>
            <a:off x="607219" y="1394746"/>
            <a:ext cx="6382954" cy="458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内核授权（</a:t>
            </a:r>
            <a:r>
              <a:rPr lang="en-US" altLang="zh-CN" b="1" dirty="0"/>
              <a:t>Processor Core License</a:t>
            </a:r>
            <a:r>
              <a:rPr lang="zh-CN" altLang="en-US" dirty="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86F666-E8A6-E723-CA67-9732A0BF45D1}"/>
              </a:ext>
            </a:extLst>
          </p:cNvPr>
          <p:cNvSpPr txBox="1"/>
          <p:nvPr/>
        </p:nvSpPr>
        <p:spPr>
          <a:xfrm>
            <a:off x="607219" y="3762412"/>
            <a:ext cx="6382954" cy="458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架构授权（</a:t>
            </a:r>
            <a:r>
              <a:rPr lang="en-US" altLang="zh-CN" b="1" dirty="0"/>
              <a:t>Architecture License</a:t>
            </a:r>
            <a:r>
              <a:rPr lang="zh-CN" altLang="en-US" b="1" dirty="0"/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E2907-A9AB-2E0A-9D80-06375E4A447D}"/>
              </a:ext>
            </a:extLst>
          </p:cNvPr>
          <p:cNvSpPr txBox="1"/>
          <p:nvPr/>
        </p:nvSpPr>
        <p:spPr>
          <a:xfrm>
            <a:off x="3707606" y="26931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A16AE6B-EB70-67F8-6518-08C20162B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54" y="1907671"/>
            <a:ext cx="10828670" cy="17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内容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：ARM 将其现成的处理器内核</a:t>
            </a:r>
            <a:r>
              <a:rPr lang="zh-CN" altLang="en-US" dirty="0">
                <a:latin typeface="Arial" panose="020B0604020202020204" pitchFamily="34" charset="0"/>
              </a:rPr>
              <a:t>图纸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（如 Cortex-A、Cortex-M、Cortex-R 系列）授权给芯片厂商。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厂商的角色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：获得授权的厂商可以将这些</a:t>
            </a:r>
            <a:r>
              <a:rPr lang="zh-CN" altLang="zh-CN" dirty="0">
                <a:solidFill>
                  <a:schemeClr val="dk1"/>
                </a:solidFill>
              </a:rPr>
              <a:t>标准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内核集成到自己的芯片中，并根据需求进行程度的优化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        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但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核心设计无法更改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示例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：高通、联发科等厂商的许多 SoC 使用 ARM 的标准 Cortex 内核，如 Cortex-A78、Cortex-X1 等。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02CD079-7E8F-CE8C-BCB1-EC29C2A5B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980" y="4273043"/>
            <a:ext cx="9495130" cy="17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内容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：ARM 授予厂商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指令集架构（如 ARMv8、ARMv9）的使用权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，厂商可以在此基础上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dirty="0">
                <a:latin typeface="Arial" panose="020B0604020202020204" pitchFamily="34" charset="0"/>
              </a:rPr>
              <a:t>          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自行设计处理器内核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，完全控制内核的实现。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厂商的角色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厂商可以自主设计 CPU 内核以满足特定需求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，实现更好的性能和差异化产品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示例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：苹果的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系列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722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3E5997-EFD4-DAB9-7441-80B47B1460E3}"/>
              </a:ext>
            </a:extLst>
          </p:cNvPr>
          <p:cNvSpPr txBox="1"/>
          <p:nvPr/>
        </p:nvSpPr>
        <p:spPr>
          <a:xfrm>
            <a:off x="4156717" y="2257432"/>
            <a:ext cx="131318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ARMv1</a:t>
            </a:r>
            <a:endParaRPr lang="zh-CN" altLang="en-US" sz="2400" b="1" dirty="0">
              <a:solidFill>
                <a:srgbClr val="0064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C1BB5D-5602-DF19-E322-7AD55B1ACC59}"/>
              </a:ext>
            </a:extLst>
          </p:cNvPr>
          <p:cNvSpPr txBox="1"/>
          <p:nvPr/>
        </p:nvSpPr>
        <p:spPr>
          <a:xfrm>
            <a:off x="4255329" y="1621126"/>
            <a:ext cx="90922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1984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364DDB-B124-42C1-A689-6A058470F27C}"/>
              </a:ext>
            </a:extLst>
          </p:cNvPr>
          <p:cNvSpPr txBox="1"/>
          <p:nvPr/>
        </p:nvSpPr>
        <p:spPr>
          <a:xfrm>
            <a:off x="6690817" y="1621125"/>
            <a:ext cx="909223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3A0438-CAFD-05D3-46D7-5F5D2A6AEECA}"/>
              </a:ext>
            </a:extLst>
          </p:cNvPr>
          <p:cNvSpPr txBox="1"/>
          <p:nvPr/>
        </p:nvSpPr>
        <p:spPr>
          <a:xfrm>
            <a:off x="6428553" y="2257432"/>
            <a:ext cx="1502334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ARMv11</a:t>
            </a:r>
            <a:endParaRPr lang="zh-CN" altLang="en-US" sz="2400" b="1" dirty="0">
              <a:solidFill>
                <a:srgbClr val="0064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7F306C-F4D8-BF59-FCBA-426033C1B96C}"/>
              </a:ext>
            </a:extLst>
          </p:cNvPr>
          <p:cNvSpPr txBox="1"/>
          <p:nvPr/>
        </p:nvSpPr>
        <p:spPr>
          <a:xfrm>
            <a:off x="2929322" y="3009169"/>
            <a:ext cx="670137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放弃数字命名，用</a:t>
            </a:r>
            <a:r>
              <a:rPr lang="en-US" altLang="zh-CN" sz="3200" b="1" dirty="0">
                <a:solidFill>
                  <a:srgbClr val="FDA00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cortex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处理器产品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4B0635-A882-9BED-B8F1-739A8053C77E}"/>
              </a:ext>
            </a:extLst>
          </p:cNvPr>
          <p:cNvSpPr txBox="1"/>
          <p:nvPr/>
        </p:nvSpPr>
        <p:spPr>
          <a:xfrm>
            <a:off x="2882338" y="3829698"/>
            <a:ext cx="7150862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Cortex-A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系列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主打高性能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。例如：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手机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平板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智能电视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65C0B3-A2F8-7B64-C4FA-21675E52724D}"/>
              </a:ext>
            </a:extLst>
          </p:cNvPr>
          <p:cNvSpPr txBox="1"/>
          <p:nvPr/>
        </p:nvSpPr>
        <p:spPr>
          <a:xfrm>
            <a:off x="2882338" y="4469373"/>
            <a:ext cx="7150862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sz="1600" dirty="0"/>
              <a:t>Cortex-R</a:t>
            </a:r>
            <a:r>
              <a:rPr lang="zh-CN" altLang="zh-CN" sz="1600" dirty="0"/>
              <a:t>系列</a:t>
            </a:r>
            <a:r>
              <a:rPr lang="en-US" altLang="zh-CN" sz="1600" dirty="0"/>
              <a:t>——</a:t>
            </a:r>
            <a:r>
              <a:rPr lang="zh-CN" altLang="zh-CN" sz="1600" dirty="0"/>
              <a:t>主打实时</a:t>
            </a:r>
            <a:r>
              <a:rPr lang="zh-CN" altLang="en-US" sz="1600" dirty="0"/>
              <a:t>。例如：</a:t>
            </a:r>
            <a:r>
              <a:rPr lang="zh-CN" altLang="zh-CN" sz="1600" dirty="0"/>
              <a:t>汽车</a:t>
            </a:r>
            <a:r>
              <a:rPr lang="zh-CN" altLang="en-US" sz="1600" dirty="0"/>
              <a:t>、</a:t>
            </a:r>
            <a:r>
              <a:rPr lang="zh-CN" altLang="zh-CN" sz="1600" dirty="0"/>
              <a:t>工业控制</a:t>
            </a:r>
            <a:r>
              <a:rPr lang="zh-CN" altLang="en-US" sz="1600" dirty="0"/>
              <a:t>、</a:t>
            </a:r>
            <a:r>
              <a:rPr lang="zh-CN" altLang="zh-CN" sz="1600" dirty="0"/>
              <a:t>医疗设备</a:t>
            </a:r>
            <a:r>
              <a:rPr lang="zh-CN" altLang="en-US" sz="1600" dirty="0"/>
              <a:t>等</a:t>
            </a:r>
            <a:endParaRPr lang="zh-CN" altLang="zh-CN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F92D2E-A629-0550-0457-FE2213B4F66C}"/>
              </a:ext>
            </a:extLst>
          </p:cNvPr>
          <p:cNvSpPr txBox="1"/>
          <p:nvPr/>
        </p:nvSpPr>
        <p:spPr>
          <a:xfrm>
            <a:off x="2882338" y="5109047"/>
            <a:ext cx="6998462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sz="1600" dirty="0"/>
              <a:t>Cortex-M</a:t>
            </a:r>
            <a:r>
              <a:rPr lang="zh-CN" altLang="zh-CN" sz="1600" dirty="0"/>
              <a:t>系列</a:t>
            </a:r>
            <a:r>
              <a:rPr lang="en-US" altLang="zh-CN" sz="1600" dirty="0"/>
              <a:t>——</a:t>
            </a:r>
            <a:r>
              <a:rPr lang="zh-CN" altLang="en-US" sz="1600" dirty="0"/>
              <a:t>主打</a:t>
            </a:r>
            <a:r>
              <a:rPr lang="zh-CN" altLang="zh-CN" sz="1600" dirty="0"/>
              <a:t>嵌入式</a:t>
            </a:r>
            <a:r>
              <a:rPr lang="zh-CN" altLang="en-US" sz="1600" dirty="0"/>
              <a:t>。例如：</a:t>
            </a:r>
            <a:r>
              <a:rPr lang="zh-CN" altLang="zh-CN" sz="1600" dirty="0"/>
              <a:t>传感器、智能家居等。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C582AA-1D6F-1FD2-E120-4355370844D6}"/>
              </a:ext>
            </a:extLst>
          </p:cNvPr>
          <p:cNvSpPr txBox="1"/>
          <p:nvPr/>
        </p:nvSpPr>
        <p:spPr>
          <a:xfrm>
            <a:off x="2133600" y="233082"/>
            <a:ext cx="2792752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400" b="1" dirty="0">
                <a:solidFill>
                  <a:srgbClr val="0064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处理器的发展</a:t>
            </a:r>
          </a:p>
        </p:txBody>
      </p:sp>
    </p:spTree>
    <p:extLst>
      <p:ext uri="{BB962C8B-B14F-4D97-AF65-F5344CB8AC3E}">
        <p14:creationId xmlns:p14="http://schemas.microsoft.com/office/powerpoint/2010/main" val="404080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宽屏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Inter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2024-10-16T16:51:35Z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