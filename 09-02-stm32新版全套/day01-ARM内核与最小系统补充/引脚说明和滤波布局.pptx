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9"/>
  </p:notesMasterIdLst>
  <p:sldIdLst>
    <p:sldId id="258" r:id="rId2"/>
    <p:sldId id="260" r:id="rId3"/>
    <p:sldId id="261" r:id="rId4"/>
    <p:sldId id="263" r:id="rId5"/>
    <p:sldId id="264" r:id="rId6"/>
    <p:sldId id="266" r:id="rId7"/>
    <p:sldId id="267" r:id="rId8"/>
  </p:sldIdLst>
  <p:sldSz cx="12192000" cy="6858000"/>
  <p:notesSz cx="6858000" cy="9144000"/>
  <p:custDataLst>
    <p:tags r:id="rId1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A007"/>
    <a:srgbClr val="00AF92"/>
    <a:srgbClr val="006450"/>
    <a:srgbClr val="0284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60" autoAdjust="0"/>
    <p:restoredTop sz="94660"/>
  </p:normalViewPr>
  <p:slideViewPr>
    <p:cSldViewPr snapToGrid="0" showGuides="1">
      <p:cViewPr varScale="1">
        <p:scale>
          <a:sx n="89" d="100"/>
          <a:sy n="89" d="100"/>
        </p:scale>
        <p:origin x="508" y="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25A8C7-CC1A-4A08-9B4B-31F43B054C7F}" type="datetimeFigureOut">
              <a:rPr lang="zh-CN" altLang="en-US" smtClean="0"/>
              <a:t>2024-10-17</a:t>
            </a:fld>
            <a:endParaRPr lang="zh-CN" altLang="en-US"/>
          </a:p>
        </p:txBody>
      </p:sp>
      <p:sp>
        <p:nvSpPr>
          <p:cNvPr id="4" name="幻灯片图像占位符 3"/>
          <p:cNvSpPr>
            <a:spLocks noGrp="1" noRot="1" noChangeAspect="1"/>
          </p:cNvSpPr>
          <p:nvPr>
            <p:ph type="sldImg" idx="2"/>
          </p:nvPr>
        </p:nvSpPr>
        <p:spPr>
          <a:xfrm>
            <a:off x="685530" y="1143000"/>
            <a:ext cx="548694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E1B693-632D-4080-9CF6-EA28B66DC80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221" y="1854524"/>
            <a:ext cx="9145325" cy="1656052"/>
          </a:xfrm>
        </p:spPr>
        <p:txBody>
          <a:bodyPr anchor="b">
            <a:normAutofit/>
          </a:bodyPr>
          <a:lstStyle>
            <a:lvl1pPr algn="ctr">
              <a:defRPr sz="7200" b="0"/>
            </a:lvl1pPr>
          </a:lstStyle>
          <a:p>
            <a:r>
              <a:rPr lang="zh-CN" altLang="en-US" dirty="0"/>
              <a:t>单击此处编辑标题</a:t>
            </a:r>
          </a:p>
        </p:txBody>
      </p:sp>
      <p:sp>
        <p:nvSpPr>
          <p:cNvPr id="3" name="副标题 2"/>
          <p:cNvSpPr>
            <a:spLocks noGrp="1"/>
          </p:cNvSpPr>
          <p:nvPr>
            <p:ph type="subTitle" idx="1"/>
          </p:nvPr>
        </p:nvSpPr>
        <p:spPr>
          <a:xfrm>
            <a:off x="1524221" y="3602668"/>
            <a:ext cx="9145325" cy="1656052"/>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835" indent="0" algn="ctr">
              <a:buNone/>
              <a:defRPr sz="1600"/>
            </a:lvl7pPr>
            <a:lvl8pPr marL="3201035" indent="0" algn="ctr">
              <a:buNone/>
              <a:defRPr sz="1600"/>
            </a:lvl8pPr>
            <a:lvl9pPr marL="3658235" indent="0" algn="ctr">
              <a:buNone/>
              <a:defRPr sz="1600"/>
            </a:lvl9pPr>
          </a:lstStyle>
          <a:p>
            <a:r>
              <a:rPr lang="zh-CN" altLang="en-US" dirty="0"/>
              <a:t>单击此处编辑母版副标题样式</a:t>
            </a:r>
          </a:p>
        </p:txBody>
      </p:sp>
      <p:sp>
        <p:nvSpPr>
          <p:cNvPr id="4" name="日期占位符 3"/>
          <p:cNvSpPr>
            <a:spLocks noGrp="1"/>
          </p:cNvSpPr>
          <p:nvPr>
            <p:ph type="dt" sz="half" idx="10"/>
          </p:nvPr>
        </p:nvSpPr>
        <p:spPr>
          <a:xfrm>
            <a:off x="838321" y="6357461"/>
            <a:ext cx="2743597" cy="365189"/>
          </a:xfrm>
        </p:spPr>
        <p:txBody>
          <a:bodyPr/>
          <a:lstStyle/>
          <a:p>
            <a:fld id="{D997B5FA-0921-464F-AAE1-844C04324D75}" type="datetimeFigureOut">
              <a:rPr lang="zh-CN" altLang="en-US" smtClean="0"/>
              <a:t>2024-10-17</a:t>
            </a:fld>
            <a:endParaRPr lang="zh-CN" altLang="en-US" dirty="0"/>
          </a:p>
        </p:txBody>
      </p:sp>
      <p:sp>
        <p:nvSpPr>
          <p:cNvPr id="5" name="页脚占位符 4"/>
          <p:cNvSpPr>
            <a:spLocks noGrp="1"/>
          </p:cNvSpPr>
          <p:nvPr>
            <p:ph type="ftr" sz="quarter" idx="11"/>
          </p:nvPr>
        </p:nvSpPr>
        <p:spPr>
          <a:xfrm>
            <a:off x="4039185" y="6357461"/>
            <a:ext cx="4115396" cy="365189"/>
          </a:xfrm>
        </p:spPr>
        <p:txBody>
          <a:bodyPr/>
          <a:lstStyle/>
          <a:p>
            <a:endParaRPr lang="zh-CN" altLang="en-US"/>
          </a:p>
        </p:txBody>
      </p:sp>
      <p:sp>
        <p:nvSpPr>
          <p:cNvPr id="6" name="灯片编号占位符 5"/>
          <p:cNvSpPr>
            <a:spLocks noGrp="1"/>
          </p:cNvSpPr>
          <p:nvPr>
            <p:ph type="sldNum" sz="quarter" idx="12"/>
          </p:nvPr>
        </p:nvSpPr>
        <p:spPr>
          <a:xfrm>
            <a:off x="8624549" y="6382861"/>
            <a:ext cx="2743597" cy="365189"/>
          </a:xfrm>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321" y="365189"/>
            <a:ext cx="10517123" cy="1325795"/>
          </a:xfrm>
        </p:spPr>
        <p:txBody>
          <a:bodyPr anchor="ctr" anchorCtr="0"/>
          <a:lstStyle/>
          <a:p>
            <a:r>
              <a:rPr lang="zh-CN" altLang="en-US" dirty="0"/>
              <a:t>单击此处编辑母版标题样式</a:t>
            </a:r>
          </a:p>
        </p:txBody>
      </p:sp>
      <p:sp>
        <p:nvSpPr>
          <p:cNvPr id="3" name="内容占位符 2"/>
          <p:cNvSpPr>
            <a:spLocks noGrp="1"/>
          </p:cNvSpPr>
          <p:nvPr>
            <p:ph idx="1"/>
          </p:nvPr>
        </p:nvSpPr>
        <p:spPr>
          <a:xfrm>
            <a:off x="838321" y="1838644"/>
            <a:ext cx="10517123" cy="4352099"/>
          </a:xfrm>
        </p:spPr>
        <p:txBody>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838321" y="6357461"/>
            <a:ext cx="2743597" cy="365189"/>
          </a:xfrm>
        </p:spPr>
        <p:txBody>
          <a:bodyPr/>
          <a:lstStyle/>
          <a:p>
            <a:fld id="{760FBDFE-C587-4B4C-A407-44438C67B59E}" type="datetimeFigureOut">
              <a:rPr lang="zh-CN" altLang="en-US" smtClean="0"/>
              <a:t>2024-10-17</a:t>
            </a:fld>
            <a:endParaRPr lang="zh-CN" altLang="en-US" dirty="0"/>
          </a:p>
        </p:txBody>
      </p:sp>
      <p:sp>
        <p:nvSpPr>
          <p:cNvPr id="5" name="页脚占位符 4"/>
          <p:cNvSpPr>
            <a:spLocks noGrp="1"/>
          </p:cNvSpPr>
          <p:nvPr>
            <p:ph type="ftr" sz="quarter" idx="11"/>
          </p:nvPr>
        </p:nvSpPr>
        <p:spPr>
          <a:xfrm>
            <a:off x="4039185" y="6357461"/>
            <a:ext cx="4115396" cy="365189"/>
          </a:xfrm>
        </p:spPr>
        <p:txBody>
          <a:bodyPr/>
          <a:lstStyle/>
          <a:p>
            <a:endParaRPr lang="zh-CN" altLang="en-US" dirty="0"/>
          </a:p>
        </p:txBody>
      </p:sp>
      <p:sp>
        <p:nvSpPr>
          <p:cNvPr id="6" name="灯片编号占位符 5"/>
          <p:cNvSpPr>
            <a:spLocks noGrp="1"/>
          </p:cNvSpPr>
          <p:nvPr>
            <p:ph type="sldNum" sz="quarter" idx="12"/>
          </p:nvPr>
        </p:nvSpPr>
        <p:spPr>
          <a:xfrm>
            <a:off x="8624549" y="6382861"/>
            <a:ext cx="2743597" cy="365189"/>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321" y="6357461"/>
            <a:ext cx="2743597" cy="365189"/>
          </a:xfrm>
        </p:spPr>
        <p:txBody>
          <a:bodyPr/>
          <a:lstStyle/>
          <a:p>
            <a:fld id="{20DD7636-5BE1-44BC-BB5F-15739D9E18E1}" type="datetimeFigureOut">
              <a:rPr lang="zh-CN" altLang="en-US" smtClean="0"/>
              <a:t>2024-10-17</a:t>
            </a:fld>
            <a:endParaRPr lang="zh-CN" altLang="en-US"/>
          </a:p>
        </p:txBody>
      </p:sp>
      <p:sp>
        <p:nvSpPr>
          <p:cNvPr id="3" name="页脚占位符 2"/>
          <p:cNvSpPr>
            <a:spLocks noGrp="1"/>
          </p:cNvSpPr>
          <p:nvPr>
            <p:ph type="ftr" sz="quarter" idx="11"/>
          </p:nvPr>
        </p:nvSpPr>
        <p:spPr>
          <a:xfrm>
            <a:off x="4039185" y="6357461"/>
            <a:ext cx="4115396" cy="365189"/>
          </a:xfrm>
        </p:spPr>
        <p:txBody>
          <a:bodyPr/>
          <a:lstStyle/>
          <a:p>
            <a:endParaRPr lang="zh-CN" altLang="en-US"/>
          </a:p>
        </p:txBody>
      </p:sp>
      <p:sp>
        <p:nvSpPr>
          <p:cNvPr id="4" name="灯片编号占位符 3"/>
          <p:cNvSpPr>
            <a:spLocks noGrp="1"/>
          </p:cNvSpPr>
          <p:nvPr>
            <p:ph type="sldNum" sz="quarter" idx="12"/>
          </p:nvPr>
        </p:nvSpPr>
        <p:spPr>
          <a:xfrm>
            <a:off x="8624549" y="6382861"/>
            <a:ext cx="2743597" cy="365189"/>
          </a:xfrm>
        </p:spPr>
        <p:txBody>
          <a:bodyPr/>
          <a:lstStyle/>
          <a:p>
            <a:fld id="{E87C0E1D-24C4-406F-9615-DBDA8D2D1F93}" type="slidenum">
              <a:rPr lang="zh-CN" altLang="en-US" smtClean="0"/>
              <a:t>‹#›</a:t>
            </a:fld>
            <a:endParaRPr lang="zh-CN" altLang="en-US"/>
          </a:p>
        </p:txBody>
      </p:sp>
      <p:sp>
        <p:nvSpPr>
          <p:cNvPr id="5" name="标题 4"/>
          <p:cNvSpPr>
            <a:spLocks noGrp="1"/>
          </p:cNvSpPr>
          <p:nvPr>
            <p:ph type="title" hasCustomPrompt="1"/>
          </p:nvPr>
        </p:nvSpPr>
        <p:spPr>
          <a:xfrm>
            <a:off x="838321" y="2187825"/>
            <a:ext cx="10517123" cy="2483549"/>
          </a:xfrm>
        </p:spPr>
        <p:txBody>
          <a:bodyPr>
            <a:normAutofit/>
          </a:bodyPr>
          <a:lstStyle>
            <a:lvl1pPr algn="ctr">
              <a:defRPr sz="6000" b="0"/>
            </a:lvl1pPr>
          </a:lstStyle>
          <a:p>
            <a:r>
              <a:rPr lang="zh-CN" altLang="en-US" dirty="0"/>
              <a:t>单击此处编辑标题</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321" y="365189"/>
            <a:ext cx="10517123" cy="1325795"/>
          </a:xfrm>
        </p:spPr>
        <p:txBody>
          <a:bodyPr anchor="ctr" anchorCtr="0"/>
          <a:lstStyle/>
          <a:p>
            <a:r>
              <a:rPr lang="zh-CN" altLang="en-US"/>
              <a:t>单击此处编辑母版标题样式</a:t>
            </a:r>
          </a:p>
        </p:txBody>
      </p:sp>
      <p:sp>
        <p:nvSpPr>
          <p:cNvPr id="3" name="内容占位符 2"/>
          <p:cNvSpPr>
            <a:spLocks noGrp="1"/>
          </p:cNvSpPr>
          <p:nvPr>
            <p:ph sz="half" idx="1"/>
          </p:nvPr>
        </p:nvSpPr>
        <p:spPr>
          <a:xfrm>
            <a:off x="838321" y="1825944"/>
            <a:ext cx="5182351" cy="4352099"/>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173094" y="1825944"/>
            <a:ext cx="5182351" cy="4352099"/>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a:xfrm>
            <a:off x="838321" y="6357461"/>
            <a:ext cx="2743597" cy="365189"/>
          </a:xfrm>
        </p:spPr>
        <p:txBody>
          <a:bodyPr/>
          <a:lstStyle/>
          <a:p>
            <a:fld id="{760FBDFE-C587-4B4C-A407-44438C67B59E}" type="datetimeFigureOut">
              <a:rPr lang="zh-CN" altLang="en-US" smtClean="0"/>
              <a:t>2024-10-17</a:t>
            </a:fld>
            <a:endParaRPr lang="zh-CN" altLang="en-US"/>
          </a:p>
        </p:txBody>
      </p:sp>
      <p:sp>
        <p:nvSpPr>
          <p:cNvPr id="6" name="页脚占位符 5"/>
          <p:cNvSpPr>
            <a:spLocks noGrp="1"/>
          </p:cNvSpPr>
          <p:nvPr>
            <p:ph type="ftr" sz="quarter" idx="11"/>
          </p:nvPr>
        </p:nvSpPr>
        <p:spPr>
          <a:xfrm>
            <a:off x="4039185" y="6357461"/>
            <a:ext cx="4115396" cy="365189"/>
          </a:xfrm>
        </p:spPr>
        <p:txBody>
          <a:bodyPr/>
          <a:lstStyle/>
          <a:p>
            <a:endParaRPr lang="zh-CN" altLang="en-US"/>
          </a:p>
        </p:txBody>
      </p:sp>
      <p:sp>
        <p:nvSpPr>
          <p:cNvPr id="7" name="灯片编号占位符 6"/>
          <p:cNvSpPr>
            <a:spLocks noGrp="1"/>
          </p:cNvSpPr>
          <p:nvPr>
            <p:ph type="sldNum" sz="quarter" idx="12"/>
          </p:nvPr>
        </p:nvSpPr>
        <p:spPr>
          <a:xfrm>
            <a:off x="8624549" y="6382861"/>
            <a:ext cx="2743597" cy="365189"/>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910" y="365189"/>
            <a:ext cx="10517123" cy="1325795"/>
          </a:xfrm>
        </p:spPr>
        <p:txBody>
          <a:bodyPr anchor="ctr" anchorCtr="0"/>
          <a:lstStyle/>
          <a:p>
            <a:r>
              <a:rPr lang="zh-CN" altLang="en-US"/>
              <a:t>单击此处编辑母版标题样式</a:t>
            </a:r>
          </a:p>
        </p:txBody>
      </p:sp>
      <p:sp>
        <p:nvSpPr>
          <p:cNvPr id="3" name="文本占位符 2"/>
          <p:cNvSpPr>
            <a:spLocks noGrp="1"/>
          </p:cNvSpPr>
          <p:nvPr>
            <p:ph type="body" idx="1"/>
          </p:nvPr>
        </p:nvSpPr>
        <p:spPr>
          <a:xfrm>
            <a:off x="839910" y="1745267"/>
            <a:ext cx="5158534" cy="82405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835" indent="0">
              <a:buNone/>
              <a:defRPr sz="1600" b="1"/>
            </a:lvl7pPr>
            <a:lvl8pPr marL="3201035" indent="0">
              <a:buNone/>
              <a:defRPr sz="1600" b="1"/>
            </a:lvl8pPr>
            <a:lvl9pPr marL="3658235"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910" y="2616067"/>
            <a:ext cx="5158534" cy="3574679"/>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3094" y="1745267"/>
            <a:ext cx="5183939" cy="82405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835" indent="0">
              <a:buNone/>
              <a:defRPr sz="1600" b="1"/>
            </a:lvl7pPr>
            <a:lvl8pPr marL="3201035" indent="0">
              <a:buNone/>
              <a:defRPr sz="1600" b="1"/>
            </a:lvl8pPr>
            <a:lvl9pPr marL="3658235"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3094" y="2616067"/>
            <a:ext cx="5183939" cy="3574679"/>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a:xfrm>
            <a:off x="838321" y="6357461"/>
            <a:ext cx="2743597" cy="365189"/>
          </a:xfrm>
        </p:spPr>
        <p:txBody>
          <a:bodyPr/>
          <a:lstStyle/>
          <a:p>
            <a:fld id="{760FBDFE-C587-4B4C-A407-44438C67B59E}" type="datetimeFigureOut">
              <a:rPr lang="zh-CN" altLang="en-US" smtClean="0"/>
              <a:t>2024-10-17</a:t>
            </a:fld>
            <a:endParaRPr lang="zh-CN" altLang="en-US"/>
          </a:p>
        </p:txBody>
      </p:sp>
      <p:sp>
        <p:nvSpPr>
          <p:cNvPr id="8" name="页脚占位符 7"/>
          <p:cNvSpPr>
            <a:spLocks noGrp="1"/>
          </p:cNvSpPr>
          <p:nvPr>
            <p:ph type="ftr" sz="quarter" idx="11"/>
          </p:nvPr>
        </p:nvSpPr>
        <p:spPr>
          <a:xfrm>
            <a:off x="4039185" y="6357461"/>
            <a:ext cx="4115396" cy="365189"/>
          </a:xfrm>
        </p:spPr>
        <p:txBody>
          <a:bodyPr/>
          <a:lstStyle/>
          <a:p>
            <a:endParaRPr lang="zh-CN" altLang="en-US"/>
          </a:p>
        </p:txBody>
      </p:sp>
      <p:sp>
        <p:nvSpPr>
          <p:cNvPr id="9" name="灯片编号占位符 8"/>
          <p:cNvSpPr>
            <a:spLocks noGrp="1"/>
          </p:cNvSpPr>
          <p:nvPr>
            <p:ph type="sldNum" sz="quarter" idx="12"/>
          </p:nvPr>
        </p:nvSpPr>
        <p:spPr>
          <a:xfrm>
            <a:off x="8624549" y="6382861"/>
            <a:ext cx="2743597" cy="365189"/>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238969" y="2159377"/>
            <a:ext cx="5715828" cy="1382692"/>
          </a:xfrm>
        </p:spPr>
        <p:txBody>
          <a:bodyPr anchor="b" anchorCtr="0">
            <a:normAutofit/>
          </a:bodyPr>
          <a:lstStyle>
            <a:lvl1pPr algn="ctr">
              <a:defRPr sz="8000" b="0">
                <a:solidFill>
                  <a:schemeClr val="tx1"/>
                </a:solidFill>
              </a:defRPr>
            </a:lvl1pPr>
          </a:lstStyle>
          <a:p>
            <a:r>
              <a:rPr lang="zh-CN" altLang="en-US" dirty="0"/>
              <a:t>编辑标题</a:t>
            </a:r>
          </a:p>
        </p:txBody>
      </p:sp>
      <p:sp>
        <p:nvSpPr>
          <p:cNvPr id="3" name="日期占位符 2"/>
          <p:cNvSpPr>
            <a:spLocks noGrp="1"/>
          </p:cNvSpPr>
          <p:nvPr>
            <p:ph type="dt" sz="half" idx="10"/>
          </p:nvPr>
        </p:nvSpPr>
        <p:spPr>
          <a:xfrm>
            <a:off x="838321" y="6357461"/>
            <a:ext cx="2743597" cy="365189"/>
          </a:xfrm>
        </p:spPr>
        <p:txBody>
          <a:bodyPr/>
          <a:lstStyle/>
          <a:p>
            <a:fld id="{20DD7636-5BE1-44BC-BB5F-15739D9E18E1}" type="datetimeFigureOut">
              <a:rPr lang="zh-CN" altLang="en-US" smtClean="0"/>
              <a:t>2024-10-17</a:t>
            </a:fld>
            <a:endParaRPr lang="zh-CN" altLang="en-US"/>
          </a:p>
        </p:txBody>
      </p:sp>
      <p:sp>
        <p:nvSpPr>
          <p:cNvPr id="4" name="页脚占位符 3"/>
          <p:cNvSpPr>
            <a:spLocks noGrp="1"/>
          </p:cNvSpPr>
          <p:nvPr>
            <p:ph type="ftr" sz="quarter" idx="11"/>
          </p:nvPr>
        </p:nvSpPr>
        <p:spPr>
          <a:xfrm>
            <a:off x="4039185" y="6357461"/>
            <a:ext cx="4115396" cy="365189"/>
          </a:xfrm>
        </p:spPr>
        <p:txBody>
          <a:bodyPr/>
          <a:lstStyle/>
          <a:p>
            <a:endParaRPr lang="zh-CN" altLang="en-US"/>
          </a:p>
        </p:txBody>
      </p:sp>
      <p:sp>
        <p:nvSpPr>
          <p:cNvPr id="5" name="灯片编号占位符 4"/>
          <p:cNvSpPr>
            <a:spLocks noGrp="1"/>
          </p:cNvSpPr>
          <p:nvPr>
            <p:ph type="sldNum" sz="quarter" idx="12"/>
          </p:nvPr>
        </p:nvSpPr>
        <p:spPr>
          <a:xfrm>
            <a:off x="8624549" y="6382861"/>
            <a:ext cx="2743597" cy="365189"/>
          </a:xfrm>
        </p:spPr>
        <p:txBody>
          <a:bodyPr/>
          <a:lstStyle/>
          <a:p>
            <a:fld id="{E87C0E1D-24C4-406F-9615-DBDA8D2D1F93}" type="slidenum">
              <a:rPr lang="zh-CN" altLang="en-US" smtClean="0"/>
              <a:t>‹#›</a:t>
            </a:fld>
            <a:endParaRPr lang="zh-CN" altLang="en-US"/>
          </a:p>
        </p:txBody>
      </p:sp>
      <p:sp>
        <p:nvSpPr>
          <p:cNvPr id="37" name="内容占位符 36"/>
          <p:cNvSpPr>
            <a:spLocks noGrp="1"/>
          </p:cNvSpPr>
          <p:nvPr>
            <p:ph sz="quarter" idx="13" hasCustomPrompt="1"/>
          </p:nvPr>
        </p:nvSpPr>
        <p:spPr>
          <a:xfrm>
            <a:off x="3238969" y="3733855"/>
            <a:ext cx="5715828" cy="1186144"/>
          </a:xfrm>
        </p:spPr>
        <p:txBody>
          <a:bodyPr>
            <a:normAutofit/>
          </a:bodyPr>
          <a:lstStyle>
            <a:lvl1pPr marL="0" indent="0" algn="ctr">
              <a:buNone/>
              <a:defRPr sz="3200">
                <a:solidFill>
                  <a:schemeClr val="tx1"/>
                </a:solidFill>
              </a:defRPr>
            </a:lvl1pPr>
          </a:lstStyle>
          <a:p>
            <a:pPr lvl="0"/>
            <a:r>
              <a:rPr lang="zh-CN" altLang="en-US" dirty="0"/>
              <a:t>编辑文本</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321" y="6357461"/>
            <a:ext cx="2743597" cy="365189"/>
          </a:xfrm>
        </p:spPr>
        <p:txBody>
          <a:bodyPr/>
          <a:lstStyle/>
          <a:p>
            <a:fld id="{760FBDFE-C587-4B4C-A407-44438C67B59E}" type="datetimeFigureOut">
              <a:rPr lang="zh-CN" altLang="en-US" smtClean="0"/>
              <a:t>2024-10-17</a:t>
            </a:fld>
            <a:endParaRPr lang="zh-CN" altLang="en-US"/>
          </a:p>
        </p:txBody>
      </p:sp>
      <p:sp>
        <p:nvSpPr>
          <p:cNvPr id="3" name="页脚占位符 2"/>
          <p:cNvSpPr>
            <a:spLocks noGrp="1"/>
          </p:cNvSpPr>
          <p:nvPr>
            <p:ph type="ftr" sz="quarter" idx="11"/>
          </p:nvPr>
        </p:nvSpPr>
        <p:spPr>
          <a:xfrm>
            <a:off x="4039185" y="6357461"/>
            <a:ext cx="4115396" cy="365189"/>
          </a:xfrm>
        </p:spPr>
        <p:txBody>
          <a:bodyPr/>
          <a:lstStyle/>
          <a:p>
            <a:endParaRPr lang="zh-CN" altLang="en-US"/>
          </a:p>
        </p:txBody>
      </p:sp>
      <p:sp>
        <p:nvSpPr>
          <p:cNvPr id="4" name="灯片编号占位符 3"/>
          <p:cNvSpPr>
            <a:spLocks noGrp="1"/>
          </p:cNvSpPr>
          <p:nvPr>
            <p:ph type="sldNum" sz="quarter" idx="12"/>
          </p:nvPr>
        </p:nvSpPr>
        <p:spPr>
          <a:xfrm>
            <a:off x="8624549" y="6382861"/>
            <a:ext cx="2743597" cy="365189"/>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321" y="713797"/>
            <a:ext cx="4682333" cy="1428411"/>
          </a:xfrm>
        </p:spPr>
        <p:txBody>
          <a:bodyPr anchor="t" anchorCtr="0">
            <a:normAutofit/>
          </a:bodyPr>
          <a:lstStyle>
            <a:lvl1pPr>
              <a:defRPr sz="3600"/>
            </a:lvl1pPr>
          </a:lstStyle>
          <a:p>
            <a:r>
              <a:rPr lang="zh-CN" altLang="en-US" dirty="0"/>
              <a:t>单击此处编辑标题</a:t>
            </a:r>
          </a:p>
        </p:txBody>
      </p:sp>
      <p:sp>
        <p:nvSpPr>
          <p:cNvPr id="3" name="图片占位符 2"/>
          <p:cNvSpPr>
            <a:spLocks noGrp="1" noChangeAspect="1"/>
          </p:cNvSpPr>
          <p:nvPr>
            <p:ph type="pic" idx="1"/>
          </p:nvPr>
        </p:nvSpPr>
        <p:spPr>
          <a:xfrm>
            <a:off x="5643335" y="713797"/>
            <a:ext cx="5712710" cy="540454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835" indent="0">
              <a:buNone/>
              <a:defRPr sz="2000"/>
            </a:lvl7pPr>
            <a:lvl8pPr marL="3201035" indent="0">
              <a:buNone/>
              <a:defRPr sz="2000"/>
            </a:lvl8pPr>
            <a:lvl9pPr marL="3658235" indent="0">
              <a:buNone/>
              <a:defRPr sz="2000"/>
            </a:lvl9pPr>
          </a:lstStyle>
          <a:p>
            <a:endParaRPr lang="zh-CN" altLang="en-US" dirty="0"/>
          </a:p>
        </p:txBody>
      </p:sp>
      <p:sp>
        <p:nvSpPr>
          <p:cNvPr id="4" name="文本占位符 3"/>
          <p:cNvSpPr>
            <a:spLocks noGrp="1"/>
          </p:cNvSpPr>
          <p:nvPr>
            <p:ph type="body" sz="half" idx="2"/>
          </p:nvPr>
        </p:nvSpPr>
        <p:spPr>
          <a:xfrm>
            <a:off x="838321" y="2314277"/>
            <a:ext cx="4682333" cy="3812255"/>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835" indent="0">
              <a:buNone/>
              <a:defRPr sz="1000"/>
            </a:lvl7pPr>
            <a:lvl8pPr marL="3201035" indent="0">
              <a:buNone/>
              <a:defRPr sz="1000"/>
            </a:lvl8pPr>
            <a:lvl9pPr marL="3658235"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a:xfrm>
            <a:off x="838321" y="6357461"/>
            <a:ext cx="2743597" cy="365189"/>
          </a:xfrm>
        </p:spPr>
        <p:txBody>
          <a:bodyPr/>
          <a:lstStyle/>
          <a:p>
            <a:fld id="{9EFD9D74-47D9-4702-A33C-335B63B48DBF}" type="datetimeFigureOut">
              <a:rPr lang="zh-CN" altLang="en-US" smtClean="0"/>
              <a:t>2024-10-17</a:t>
            </a:fld>
            <a:endParaRPr lang="zh-CN" altLang="en-US" dirty="0"/>
          </a:p>
        </p:txBody>
      </p:sp>
      <p:sp>
        <p:nvSpPr>
          <p:cNvPr id="6" name="页脚占位符 5"/>
          <p:cNvSpPr>
            <a:spLocks noGrp="1"/>
          </p:cNvSpPr>
          <p:nvPr>
            <p:ph type="ftr" sz="quarter" idx="11"/>
          </p:nvPr>
        </p:nvSpPr>
        <p:spPr>
          <a:xfrm>
            <a:off x="4039185" y="6357461"/>
            <a:ext cx="4115396" cy="365189"/>
          </a:xfrm>
        </p:spPr>
        <p:txBody>
          <a:bodyPr/>
          <a:lstStyle/>
          <a:p>
            <a:endParaRPr lang="zh-CN" altLang="en-US" dirty="0"/>
          </a:p>
        </p:txBody>
      </p:sp>
      <p:sp>
        <p:nvSpPr>
          <p:cNvPr id="7" name="灯片编号占位符 6"/>
          <p:cNvSpPr>
            <a:spLocks noGrp="1"/>
          </p:cNvSpPr>
          <p:nvPr>
            <p:ph type="sldNum" sz="quarter" idx="12"/>
          </p:nvPr>
        </p:nvSpPr>
        <p:spPr>
          <a:xfrm>
            <a:off x="8624549" y="6382861"/>
            <a:ext cx="2743597" cy="365189"/>
          </a:xfrm>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nvPr>
        </p:nvSpPr>
        <p:spPr>
          <a:xfrm>
            <a:off x="10446412" y="365189"/>
            <a:ext cx="909033" cy="5812855"/>
          </a:xfrm>
        </p:spPr>
        <p:txBody>
          <a:bodyPr vert="eaVert">
            <a:normAutofit/>
          </a:bodyPr>
          <a:lstStyle>
            <a:lvl1pPr>
              <a:defRPr sz="4400"/>
            </a:lvl1pPr>
          </a:lstStyle>
          <a:p>
            <a:r>
              <a:rPr lang="zh-CN" altLang="en-US" dirty="0"/>
              <a:t>单击此处编辑标题</a:t>
            </a:r>
          </a:p>
        </p:txBody>
      </p:sp>
      <p:sp>
        <p:nvSpPr>
          <p:cNvPr id="3" name="竖排文字占位符 2"/>
          <p:cNvSpPr>
            <a:spLocks noGrp="1"/>
          </p:cNvSpPr>
          <p:nvPr>
            <p:ph type="body" orient="vert" idx="1"/>
          </p:nvPr>
        </p:nvSpPr>
        <p:spPr>
          <a:xfrm>
            <a:off x="838320" y="365189"/>
            <a:ext cx="9447811" cy="5812855"/>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838321" y="6357461"/>
            <a:ext cx="2743597" cy="365189"/>
          </a:xfrm>
        </p:spPr>
        <p:txBody>
          <a:bodyPr/>
          <a:lstStyle/>
          <a:p>
            <a:fld id="{760FBDFE-C587-4B4C-A407-44438C67B59E}" type="datetimeFigureOut">
              <a:rPr lang="zh-CN" altLang="en-US" smtClean="0"/>
              <a:t>2024-10-17</a:t>
            </a:fld>
            <a:endParaRPr lang="zh-CN" altLang="en-US"/>
          </a:p>
        </p:txBody>
      </p:sp>
      <p:sp>
        <p:nvSpPr>
          <p:cNvPr id="5" name="页脚占位符 4"/>
          <p:cNvSpPr>
            <a:spLocks noGrp="1"/>
          </p:cNvSpPr>
          <p:nvPr>
            <p:ph type="ftr" sz="quarter" idx="11"/>
          </p:nvPr>
        </p:nvSpPr>
        <p:spPr>
          <a:xfrm>
            <a:off x="4039185" y="6357461"/>
            <a:ext cx="4115396" cy="365189"/>
          </a:xfrm>
        </p:spPr>
        <p:txBody>
          <a:bodyPr/>
          <a:lstStyle/>
          <a:p>
            <a:endParaRPr lang="zh-CN" altLang="en-US"/>
          </a:p>
        </p:txBody>
      </p:sp>
      <p:sp>
        <p:nvSpPr>
          <p:cNvPr id="6" name="灯片编号占位符 5"/>
          <p:cNvSpPr>
            <a:spLocks noGrp="1"/>
          </p:cNvSpPr>
          <p:nvPr>
            <p:ph type="sldNum" sz="quarter" idx="12"/>
          </p:nvPr>
        </p:nvSpPr>
        <p:spPr>
          <a:xfrm>
            <a:off x="8624549" y="6382861"/>
            <a:ext cx="2743597" cy="365189"/>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838321" y="6357461"/>
            <a:ext cx="2743597" cy="365189"/>
          </a:xfrm>
        </p:spPr>
        <p:txBody>
          <a:bodyPr/>
          <a:lstStyle/>
          <a:p>
            <a:fld id="{760FBDFE-C587-4B4C-A407-44438C67B59E}" type="datetimeFigureOut">
              <a:rPr lang="zh-CN" altLang="en-US" smtClean="0"/>
              <a:t>2024-10-17</a:t>
            </a:fld>
            <a:endParaRPr lang="zh-CN" altLang="en-US"/>
          </a:p>
        </p:txBody>
      </p:sp>
      <p:sp>
        <p:nvSpPr>
          <p:cNvPr id="4" name="页脚占位符 3"/>
          <p:cNvSpPr>
            <a:spLocks noGrp="1"/>
          </p:cNvSpPr>
          <p:nvPr>
            <p:ph type="ftr" sz="quarter" idx="11"/>
          </p:nvPr>
        </p:nvSpPr>
        <p:spPr>
          <a:xfrm>
            <a:off x="4039185" y="6357461"/>
            <a:ext cx="4115396" cy="365189"/>
          </a:xfrm>
        </p:spPr>
        <p:txBody>
          <a:bodyPr/>
          <a:lstStyle/>
          <a:p>
            <a:endParaRPr lang="zh-CN" altLang="en-US"/>
          </a:p>
        </p:txBody>
      </p:sp>
      <p:sp>
        <p:nvSpPr>
          <p:cNvPr id="5" name="灯片编号占位符 4"/>
          <p:cNvSpPr>
            <a:spLocks noGrp="1"/>
          </p:cNvSpPr>
          <p:nvPr>
            <p:ph type="sldNum" sz="quarter" idx="12"/>
          </p:nvPr>
        </p:nvSpPr>
        <p:spPr>
          <a:xfrm>
            <a:off x="8624549" y="6382861"/>
            <a:ext cx="2743597" cy="365189"/>
          </a:xfrm>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321" y="551640"/>
            <a:ext cx="10517123" cy="555994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2" name="KSO_TEMPLATE" hidden="1"/>
          <p:cNvSpPr/>
          <p:nvPr userDrawn="1">
            <p:custDataLst>
              <p:tags r:id="rId1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52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835" algn="l" defTabSz="914400" rtl="0" eaLnBrk="1" latinLnBrk="0" hangingPunct="1">
        <a:defRPr sz="1800" kern="1200">
          <a:solidFill>
            <a:schemeClr val="tx1"/>
          </a:solidFill>
          <a:latin typeface="+mn-lt"/>
          <a:ea typeface="+mn-ea"/>
          <a:cs typeface="+mn-cs"/>
        </a:defRPr>
      </a:lvl7pPr>
      <a:lvl8pPr marL="3201035" algn="l" defTabSz="914400" rtl="0" eaLnBrk="1" latinLnBrk="0" hangingPunct="1">
        <a:defRPr sz="1800" kern="1200">
          <a:solidFill>
            <a:schemeClr val="tx1"/>
          </a:solidFill>
          <a:latin typeface="+mn-lt"/>
          <a:ea typeface="+mn-ea"/>
          <a:cs typeface="+mn-cs"/>
        </a:defRPr>
      </a:lvl8pPr>
      <a:lvl9pPr marL="365823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39872" y="262154"/>
            <a:ext cx="2294218" cy="400110"/>
          </a:xfrm>
          <a:prstGeom prst="rect">
            <a:avLst/>
          </a:prstGeom>
          <a:noFill/>
          <a:ln>
            <a:noFill/>
          </a:ln>
        </p:spPr>
        <p:txBody>
          <a:bodyPr wrap="none" rtlCol="0" anchor="t">
            <a:spAutoFit/>
          </a:bodyPr>
          <a:lstStyle/>
          <a:p>
            <a:pPr algn="ctr"/>
            <a:r>
              <a:rPr lang="en-US" altLang="zh-CN" sz="2000" dirty="0">
                <a:solidFill>
                  <a:schemeClr val="tx1"/>
                </a:solidFill>
                <a:effectLst>
                  <a:outerShdw blurRad="38100" dist="19050" dir="2700000" algn="tl" rotWithShape="0">
                    <a:schemeClr val="dk1">
                      <a:alpha val="40000"/>
                    </a:schemeClr>
                  </a:outerShdw>
                </a:effectLst>
              </a:rPr>
              <a:t>STM32</a:t>
            </a:r>
            <a:r>
              <a:rPr lang="zh-CN" altLang="en-US" sz="2000" dirty="0">
                <a:solidFill>
                  <a:schemeClr val="tx1"/>
                </a:solidFill>
                <a:effectLst>
                  <a:outerShdw blurRad="38100" dist="19050" dir="2700000" algn="tl" rotWithShape="0">
                    <a:schemeClr val="dk1">
                      <a:alpha val="40000"/>
                    </a:schemeClr>
                  </a:outerShdw>
                </a:effectLst>
              </a:rPr>
              <a:t>的分区供电</a:t>
            </a:r>
            <a:endParaRPr lang="en-US" altLang="zh-CN" sz="2000" dirty="0">
              <a:solidFill>
                <a:schemeClr val="tx1"/>
              </a:solidFill>
              <a:effectLst>
                <a:outerShdw blurRad="38100" dist="19050" dir="2700000" algn="tl" rotWithShape="0">
                  <a:schemeClr val="dk1">
                    <a:alpha val="40000"/>
                  </a:schemeClr>
                </a:outerShdw>
              </a:effectLst>
            </a:endParaRPr>
          </a:p>
        </p:txBody>
      </p:sp>
      <p:pic>
        <p:nvPicPr>
          <p:cNvPr id="1028" name="Picture 4" descr="STM32F103C8T6封装引脚图_stm32f103c8t6封装图-CSDN博客">
            <a:extLst>
              <a:ext uri="{FF2B5EF4-FFF2-40B4-BE49-F238E27FC236}">
                <a16:creationId xmlns:a16="http://schemas.microsoft.com/office/drawing/2014/main" id="{CB0F2572-0D7C-71E2-CC24-5E872B22B7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2545" y="1806324"/>
            <a:ext cx="4715395" cy="3588252"/>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A088813D-1E90-4004-72B7-85A1D8848F97}"/>
              </a:ext>
            </a:extLst>
          </p:cNvPr>
          <p:cNvSpPr txBox="1"/>
          <p:nvPr/>
        </p:nvSpPr>
        <p:spPr>
          <a:xfrm>
            <a:off x="700087" y="973211"/>
            <a:ext cx="4095993" cy="646331"/>
          </a:xfrm>
          <a:prstGeom prst="rect">
            <a:avLst/>
          </a:prstGeom>
          <a:noFill/>
        </p:spPr>
        <p:txBody>
          <a:bodyPr wrap="none" rtlCol="0">
            <a:spAutoFit/>
          </a:bodyPr>
          <a:lstStyle/>
          <a:p>
            <a:r>
              <a:rPr lang="zh-CN" altLang="en-US" dirty="0"/>
              <a:t>因为</a:t>
            </a:r>
            <a:r>
              <a:rPr lang="en-US" altLang="zh-CN" dirty="0"/>
              <a:t>STM32F103ZET6</a:t>
            </a:r>
            <a:r>
              <a:rPr lang="zh-CN" altLang="en-US" dirty="0"/>
              <a:t>太大</a:t>
            </a:r>
            <a:endParaRPr lang="en-US" altLang="zh-CN" dirty="0"/>
          </a:p>
          <a:p>
            <a:r>
              <a:rPr lang="zh-CN" altLang="en-US" dirty="0"/>
              <a:t>我们此处拿</a:t>
            </a:r>
            <a:r>
              <a:rPr lang="en-US" altLang="zh-CN" dirty="0"/>
              <a:t>STM32F103C8T6</a:t>
            </a:r>
            <a:r>
              <a:rPr lang="zh-CN" altLang="en-US" dirty="0"/>
              <a:t>进行讲解</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56EC8-3973-A232-DC80-1C7199765561}"/>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A88B6D24-CE0D-1C86-1F95-93FEE887E320}"/>
              </a:ext>
            </a:extLst>
          </p:cNvPr>
          <p:cNvSpPr/>
          <p:nvPr/>
        </p:nvSpPr>
        <p:spPr>
          <a:xfrm>
            <a:off x="1939872" y="262154"/>
            <a:ext cx="2294218" cy="400110"/>
          </a:xfrm>
          <a:prstGeom prst="rect">
            <a:avLst/>
          </a:prstGeom>
          <a:noFill/>
          <a:ln>
            <a:noFill/>
          </a:ln>
        </p:spPr>
        <p:txBody>
          <a:bodyPr wrap="none" rtlCol="0" anchor="t">
            <a:spAutoFit/>
          </a:bodyPr>
          <a:lstStyle/>
          <a:p>
            <a:pPr algn="ctr"/>
            <a:r>
              <a:rPr lang="en-US" altLang="zh-CN" sz="2000" dirty="0">
                <a:solidFill>
                  <a:schemeClr val="tx1"/>
                </a:solidFill>
                <a:effectLst>
                  <a:outerShdw blurRad="38100" dist="19050" dir="2700000" algn="tl" rotWithShape="0">
                    <a:schemeClr val="dk1">
                      <a:alpha val="40000"/>
                    </a:schemeClr>
                  </a:outerShdw>
                </a:effectLst>
              </a:rPr>
              <a:t>STM32</a:t>
            </a:r>
            <a:r>
              <a:rPr lang="zh-CN" altLang="en-US" sz="2000" dirty="0">
                <a:solidFill>
                  <a:schemeClr val="tx1"/>
                </a:solidFill>
                <a:effectLst>
                  <a:outerShdw blurRad="38100" dist="19050" dir="2700000" algn="tl" rotWithShape="0">
                    <a:schemeClr val="dk1">
                      <a:alpha val="40000"/>
                    </a:schemeClr>
                  </a:outerShdw>
                </a:effectLst>
              </a:rPr>
              <a:t>的分区供电</a:t>
            </a:r>
            <a:endParaRPr lang="en-US" altLang="zh-CN" sz="2000" dirty="0">
              <a:solidFill>
                <a:schemeClr val="tx1"/>
              </a:solidFill>
              <a:effectLst>
                <a:outerShdw blurRad="38100" dist="19050" dir="2700000" algn="tl" rotWithShape="0">
                  <a:schemeClr val="dk1">
                    <a:alpha val="40000"/>
                  </a:schemeClr>
                </a:outerShdw>
              </a:effectLst>
            </a:endParaRPr>
          </a:p>
        </p:txBody>
      </p:sp>
      <p:pic>
        <p:nvPicPr>
          <p:cNvPr id="1028" name="Picture 4" descr="STM32F103C8T6封装引脚图_stm32f103c8t6封装图-CSDN博客">
            <a:extLst>
              <a:ext uri="{FF2B5EF4-FFF2-40B4-BE49-F238E27FC236}">
                <a16:creationId xmlns:a16="http://schemas.microsoft.com/office/drawing/2014/main" id="{96A98E19-861A-5175-66A3-0E29F51845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083" y="1341980"/>
            <a:ext cx="4715395" cy="3588252"/>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2C1472D7-A963-50C3-451F-B9FE1E8744E9}"/>
              </a:ext>
            </a:extLst>
          </p:cNvPr>
          <p:cNvSpPr txBox="1"/>
          <p:nvPr/>
        </p:nvSpPr>
        <p:spPr>
          <a:xfrm>
            <a:off x="3202780" y="1057969"/>
            <a:ext cx="2018501" cy="369332"/>
          </a:xfrm>
          <a:prstGeom prst="rect">
            <a:avLst/>
          </a:prstGeom>
          <a:noFill/>
        </p:spPr>
        <p:txBody>
          <a:bodyPr wrap="none" rtlCol="0">
            <a:spAutoFit/>
          </a:bodyPr>
          <a:lstStyle/>
          <a:p>
            <a:r>
              <a:rPr lang="en-US" altLang="zh-CN" dirty="0">
                <a:solidFill>
                  <a:srgbClr val="FF0000"/>
                </a:solidFill>
              </a:rPr>
              <a:t>STM32F103C8T6</a:t>
            </a:r>
          </a:p>
        </p:txBody>
      </p:sp>
      <p:pic>
        <p:nvPicPr>
          <p:cNvPr id="3074" name="Picture 2" descr="STC89C52Rc 40I LQFP44引脚的封装和引脚说明_百度知道">
            <a:extLst>
              <a:ext uri="{FF2B5EF4-FFF2-40B4-BE49-F238E27FC236}">
                <a16:creationId xmlns:a16="http://schemas.microsoft.com/office/drawing/2014/main" id="{34A5A6A6-97C1-2BF8-3BE5-08D0A17C70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4981" y="1242635"/>
            <a:ext cx="3457196" cy="3253832"/>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FF8AAC88-3F8F-4BE3-334A-968E93F3AEE1}"/>
              </a:ext>
            </a:extLst>
          </p:cNvPr>
          <p:cNvSpPr txBox="1"/>
          <p:nvPr/>
        </p:nvSpPr>
        <p:spPr>
          <a:xfrm>
            <a:off x="8643569" y="872810"/>
            <a:ext cx="1659429" cy="369332"/>
          </a:xfrm>
          <a:prstGeom prst="rect">
            <a:avLst/>
          </a:prstGeom>
          <a:noFill/>
        </p:spPr>
        <p:txBody>
          <a:bodyPr wrap="none" rtlCol="0">
            <a:spAutoFit/>
          </a:bodyPr>
          <a:lstStyle/>
          <a:p>
            <a:r>
              <a:rPr lang="en-US" altLang="zh-CN" dirty="0">
                <a:solidFill>
                  <a:srgbClr val="FF0000"/>
                </a:solidFill>
              </a:rPr>
              <a:t>STC89C52RC</a:t>
            </a:r>
          </a:p>
        </p:txBody>
      </p:sp>
      <p:sp>
        <p:nvSpPr>
          <p:cNvPr id="3" name="矩形 2">
            <a:extLst>
              <a:ext uri="{FF2B5EF4-FFF2-40B4-BE49-F238E27FC236}">
                <a16:creationId xmlns:a16="http://schemas.microsoft.com/office/drawing/2014/main" id="{AD9D5E94-E63B-1B10-16A8-F0A06FAF532A}"/>
              </a:ext>
            </a:extLst>
          </p:cNvPr>
          <p:cNvSpPr/>
          <p:nvPr/>
        </p:nvSpPr>
        <p:spPr>
          <a:xfrm>
            <a:off x="2528888" y="1221203"/>
            <a:ext cx="350044" cy="979071"/>
          </a:xfrm>
          <a:prstGeom prst="rect">
            <a:avLst/>
          </a:prstGeom>
          <a:noFill/>
          <a:ln w="285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9FDF31C3-E80C-2983-5AD0-8518EBC423E4}"/>
              </a:ext>
            </a:extLst>
          </p:cNvPr>
          <p:cNvSpPr/>
          <p:nvPr/>
        </p:nvSpPr>
        <p:spPr>
          <a:xfrm>
            <a:off x="4111619" y="4050507"/>
            <a:ext cx="350044" cy="879726"/>
          </a:xfrm>
          <a:prstGeom prst="rect">
            <a:avLst/>
          </a:prstGeom>
          <a:noFill/>
          <a:ln w="285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E2BBDEC5-0219-F5B2-AAA4-946000A36E03}"/>
              </a:ext>
            </a:extLst>
          </p:cNvPr>
          <p:cNvSpPr/>
          <p:nvPr/>
        </p:nvSpPr>
        <p:spPr>
          <a:xfrm>
            <a:off x="4423435" y="2135981"/>
            <a:ext cx="884372" cy="331371"/>
          </a:xfrm>
          <a:prstGeom prst="rect">
            <a:avLst/>
          </a:prstGeom>
          <a:noFill/>
          <a:ln w="285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EA1A8E13-59FE-46D9-D3D8-FEF65BC8E636}"/>
              </a:ext>
            </a:extLst>
          </p:cNvPr>
          <p:cNvSpPr/>
          <p:nvPr/>
        </p:nvSpPr>
        <p:spPr>
          <a:xfrm>
            <a:off x="1800224" y="3271837"/>
            <a:ext cx="714375" cy="350043"/>
          </a:xfrm>
          <a:prstGeom prst="rect">
            <a:avLst/>
          </a:prstGeom>
          <a:noFill/>
          <a:ln w="285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DE9EF0FE-97F7-45DA-27E2-48FD58B7315B}"/>
              </a:ext>
            </a:extLst>
          </p:cNvPr>
          <p:cNvSpPr/>
          <p:nvPr/>
        </p:nvSpPr>
        <p:spPr>
          <a:xfrm>
            <a:off x="7419568" y="2509460"/>
            <a:ext cx="695062" cy="151847"/>
          </a:xfrm>
          <a:prstGeom prst="rect">
            <a:avLst/>
          </a:prstGeom>
          <a:noFill/>
          <a:ln w="285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4CEF7B1-088E-60E5-B661-E38DC4564317}"/>
              </a:ext>
            </a:extLst>
          </p:cNvPr>
          <p:cNvSpPr/>
          <p:nvPr/>
        </p:nvSpPr>
        <p:spPr>
          <a:xfrm>
            <a:off x="9607936" y="2793381"/>
            <a:ext cx="695062" cy="151847"/>
          </a:xfrm>
          <a:prstGeom prst="rect">
            <a:avLst/>
          </a:prstGeom>
          <a:noFill/>
          <a:ln w="285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1121099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6C7B0-2DD6-0020-3A1F-5AD9F6D0B1A8}"/>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789C1207-6702-2E68-5C77-F188879868D9}"/>
              </a:ext>
            </a:extLst>
          </p:cNvPr>
          <p:cNvSpPr/>
          <p:nvPr/>
        </p:nvSpPr>
        <p:spPr>
          <a:xfrm>
            <a:off x="1939872" y="262154"/>
            <a:ext cx="2294219" cy="400110"/>
          </a:xfrm>
          <a:prstGeom prst="rect">
            <a:avLst/>
          </a:prstGeom>
          <a:noFill/>
          <a:ln>
            <a:noFill/>
          </a:ln>
        </p:spPr>
        <p:txBody>
          <a:bodyPr wrap="none" rtlCol="0" anchor="t">
            <a:spAutoFit/>
          </a:bodyPr>
          <a:lstStyle/>
          <a:p>
            <a:pPr algn="ctr"/>
            <a:r>
              <a:rPr lang="en-US" altLang="zh-CN" sz="2000" dirty="0">
                <a:solidFill>
                  <a:schemeClr val="tx1"/>
                </a:solidFill>
                <a:effectLst>
                  <a:outerShdw blurRad="38100" dist="19050" dir="2700000" algn="tl" rotWithShape="0">
                    <a:schemeClr val="dk1">
                      <a:alpha val="40000"/>
                    </a:schemeClr>
                  </a:outerShdw>
                </a:effectLst>
              </a:rPr>
              <a:t>STM32</a:t>
            </a:r>
            <a:r>
              <a:rPr lang="zh-CN" altLang="en-US" sz="2000" dirty="0">
                <a:solidFill>
                  <a:schemeClr val="tx1"/>
                </a:solidFill>
                <a:effectLst>
                  <a:outerShdw blurRad="38100" dist="19050" dir="2700000" algn="tl" rotWithShape="0">
                    <a:schemeClr val="dk1">
                      <a:alpha val="40000"/>
                    </a:schemeClr>
                  </a:outerShdw>
                </a:effectLst>
              </a:rPr>
              <a:t>的分区供电</a:t>
            </a:r>
            <a:endParaRPr lang="en-US" altLang="zh-CN" sz="2000" dirty="0">
              <a:solidFill>
                <a:schemeClr val="tx1"/>
              </a:solidFill>
              <a:effectLst>
                <a:outerShdw blurRad="38100" dist="19050" dir="2700000" algn="tl" rotWithShape="0">
                  <a:schemeClr val="dk1">
                    <a:alpha val="40000"/>
                  </a:schemeClr>
                </a:outerShdw>
              </a:effectLst>
            </a:endParaRPr>
          </a:p>
        </p:txBody>
      </p:sp>
      <p:pic>
        <p:nvPicPr>
          <p:cNvPr id="1028" name="Picture 4" descr="STM32F103C8T6封装引脚图_stm32f103c8t6封装图-CSDN博客">
            <a:extLst>
              <a:ext uri="{FF2B5EF4-FFF2-40B4-BE49-F238E27FC236}">
                <a16:creationId xmlns:a16="http://schemas.microsoft.com/office/drawing/2014/main" id="{E0FC63A0-B7D3-B859-A71D-A068D6C674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6393" y="1756319"/>
            <a:ext cx="4715395" cy="3588252"/>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156A466E-6217-A3CE-9FFC-B930C93E3C48}"/>
              </a:ext>
            </a:extLst>
          </p:cNvPr>
          <p:cNvSpPr txBox="1"/>
          <p:nvPr/>
        </p:nvSpPr>
        <p:spPr>
          <a:xfrm>
            <a:off x="3488760" y="1173237"/>
            <a:ext cx="2018501" cy="369332"/>
          </a:xfrm>
          <a:prstGeom prst="rect">
            <a:avLst/>
          </a:prstGeom>
          <a:noFill/>
        </p:spPr>
        <p:txBody>
          <a:bodyPr wrap="none" rtlCol="0">
            <a:spAutoFit/>
          </a:bodyPr>
          <a:lstStyle/>
          <a:p>
            <a:r>
              <a:rPr lang="en-US" altLang="zh-CN" dirty="0"/>
              <a:t>STM32F103C8T6</a:t>
            </a:r>
          </a:p>
        </p:txBody>
      </p:sp>
      <p:sp>
        <p:nvSpPr>
          <p:cNvPr id="3" name="矩形 2">
            <a:extLst>
              <a:ext uri="{FF2B5EF4-FFF2-40B4-BE49-F238E27FC236}">
                <a16:creationId xmlns:a16="http://schemas.microsoft.com/office/drawing/2014/main" id="{9203FA26-7419-A884-805E-CE269FDF1244}"/>
              </a:ext>
            </a:extLst>
          </p:cNvPr>
          <p:cNvSpPr/>
          <p:nvPr/>
        </p:nvSpPr>
        <p:spPr>
          <a:xfrm>
            <a:off x="3560198" y="1635542"/>
            <a:ext cx="350044" cy="979071"/>
          </a:xfrm>
          <a:prstGeom prst="rect">
            <a:avLst/>
          </a:prstGeom>
          <a:noFill/>
          <a:ln w="285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2858184D-E055-2715-02E2-200A804ACA9D}"/>
              </a:ext>
            </a:extLst>
          </p:cNvPr>
          <p:cNvSpPr/>
          <p:nvPr/>
        </p:nvSpPr>
        <p:spPr>
          <a:xfrm>
            <a:off x="5192935" y="4464845"/>
            <a:ext cx="350044" cy="979071"/>
          </a:xfrm>
          <a:prstGeom prst="rect">
            <a:avLst/>
          </a:prstGeom>
          <a:noFill/>
          <a:ln w="285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6E729263-8D21-7B73-02BE-BF2F2BE7644B}"/>
              </a:ext>
            </a:extLst>
          </p:cNvPr>
          <p:cNvSpPr/>
          <p:nvPr/>
        </p:nvSpPr>
        <p:spPr>
          <a:xfrm>
            <a:off x="5454745" y="2550320"/>
            <a:ext cx="884372" cy="331371"/>
          </a:xfrm>
          <a:prstGeom prst="rect">
            <a:avLst/>
          </a:prstGeom>
          <a:noFill/>
          <a:ln w="285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F78D5CAA-AE5D-717B-3537-C8F4C53CA1A8}"/>
              </a:ext>
            </a:extLst>
          </p:cNvPr>
          <p:cNvSpPr/>
          <p:nvPr/>
        </p:nvSpPr>
        <p:spPr>
          <a:xfrm>
            <a:off x="2831534" y="3686176"/>
            <a:ext cx="714375" cy="350043"/>
          </a:xfrm>
          <a:prstGeom prst="rect">
            <a:avLst/>
          </a:prstGeom>
          <a:noFill/>
          <a:ln w="285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BD88F9CC-C0A5-1FCE-85E4-CB6193AB9688}"/>
              </a:ext>
            </a:extLst>
          </p:cNvPr>
          <p:cNvSpPr txBox="1"/>
          <p:nvPr/>
        </p:nvSpPr>
        <p:spPr>
          <a:xfrm>
            <a:off x="6900862" y="1741655"/>
            <a:ext cx="4801314" cy="369332"/>
          </a:xfrm>
          <a:prstGeom prst="rect">
            <a:avLst/>
          </a:prstGeom>
          <a:noFill/>
        </p:spPr>
        <p:txBody>
          <a:bodyPr wrap="none" rtlCol="0">
            <a:spAutoFit/>
          </a:bodyPr>
          <a:lstStyle/>
          <a:p>
            <a:r>
              <a:rPr lang="zh-CN" altLang="en-US" dirty="0"/>
              <a:t>你可以认为在这个芯片内部有很多不同的模块</a:t>
            </a:r>
            <a:endParaRPr lang="en-US" altLang="zh-CN" dirty="0"/>
          </a:p>
        </p:txBody>
      </p:sp>
    </p:spTree>
    <p:custDataLst>
      <p:tags r:id="rId1"/>
    </p:custDataLst>
    <p:extLst>
      <p:ext uri="{BB962C8B-B14F-4D97-AF65-F5344CB8AC3E}">
        <p14:creationId xmlns:p14="http://schemas.microsoft.com/office/powerpoint/2010/main" val="1222115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00CDD-B37F-9294-5F5F-AB1DE2A3DB09}"/>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754BA68E-E879-19D0-373C-E8BEFD63DCC0}"/>
              </a:ext>
            </a:extLst>
          </p:cNvPr>
          <p:cNvSpPr/>
          <p:nvPr/>
        </p:nvSpPr>
        <p:spPr>
          <a:xfrm>
            <a:off x="2096967" y="262154"/>
            <a:ext cx="1980029" cy="400110"/>
          </a:xfrm>
          <a:prstGeom prst="rect">
            <a:avLst/>
          </a:prstGeom>
          <a:noFill/>
          <a:ln>
            <a:noFill/>
          </a:ln>
        </p:spPr>
        <p:txBody>
          <a:bodyPr wrap="none" rtlCol="0" anchor="t">
            <a:spAutoFit/>
          </a:bodyPr>
          <a:lstStyle/>
          <a:p>
            <a:pPr algn="ctr"/>
            <a:r>
              <a:rPr lang="zh-CN" altLang="en-US" sz="2000" dirty="0">
                <a:solidFill>
                  <a:schemeClr val="tx1"/>
                </a:solidFill>
                <a:effectLst>
                  <a:outerShdw blurRad="38100" dist="19050" dir="2700000" algn="tl" rotWithShape="0">
                    <a:schemeClr val="dk1">
                      <a:alpha val="40000"/>
                    </a:schemeClr>
                  </a:outerShdw>
                </a:effectLst>
              </a:rPr>
              <a:t>电容的滤波半径</a:t>
            </a:r>
            <a:endParaRPr lang="en-US" altLang="zh-CN" sz="2000" dirty="0">
              <a:solidFill>
                <a:schemeClr val="tx1"/>
              </a:solidFill>
              <a:effectLst>
                <a:outerShdw blurRad="38100" dist="19050" dir="2700000" algn="tl" rotWithShape="0">
                  <a:schemeClr val="dk1">
                    <a:alpha val="40000"/>
                  </a:schemeClr>
                </a:outerShdw>
              </a:effectLst>
            </a:endParaRPr>
          </a:p>
        </p:txBody>
      </p:sp>
      <p:sp>
        <p:nvSpPr>
          <p:cNvPr id="9" name="capacitor_1977">
            <a:extLst>
              <a:ext uri="{FF2B5EF4-FFF2-40B4-BE49-F238E27FC236}">
                <a16:creationId xmlns:a16="http://schemas.microsoft.com/office/drawing/2014/main" id="{B274BF4A-4751-C4B3-52C9-4BAF86B6104C}"/>
              </a:ext>
            </a:extLst>
          </p:cNvPr>
          <p:cNvSpPr/>
          <p:nvPr/>
        </p:nvSpPr>
        <p:spPr>
          <a:xfrm>
            <a:off x="5791157" y="2199000"/>
            <a:ext cx="609685" cy="588341"/>
          </a:xfrm>
          <a:custGeom>
            <a:avLst/>
            <a:gdLst>
              <a:gd name="T0" fmla="*/ 177 w 210"/>
              <a:gd name="T1" fmla="*/ 34 h 203"/>
              <a:gd name="T2" fmla="*/ 125 w 210"/>
              <a:gd name="T3" fmla="*/ 7 h 203"/>
              <a:gd name="T4" fmla="*/ 124 w 210"/>
              <a:gd name="T5" fmla="*/ 7 h 203"/>
              <a:gd name="T6" fmla="*/ 124 w 210"/>
              <a:gd name="T7" fmla="*/ 7 h 203"/>
              <a:gd name="T8" fmla="*/ 100 w 210"/>
              <a:gd name="T9" fmla="*/ 31 h 203"/>
              <a:gd name="T10" fmla="*/ 100 w 210"/>
              <a:gd name="T11" fmla="*/ 31 h 203"/>
              <a:gd name="T12" fmla="*/ 57 w 210"/>
              <a:gd name="T13" fmla="*/ 75 h 203"/>
              <a:gd name="T14" fmla="*/ 62 w 210"/>
              <a:gd name="T15" fmla="*/ 97 h 203"/>
              <a:gd name="T16" fmla="*/ 4 w 210"/>
              <a:gd name="T17" fmla="*/ 145 h 203"/>
              <a:gd name="T18" fmla="*/ 3 w 210"/>
              <a:gd name="T19" fmla="*/ 156 h 203"/>
              <a:gd name="T20" fmla="*/ 14 w 210"/>
              <a:gd name="T21" fmla="*/ 157 h 203"/>
              <a:gd name="T22" fmla="*/ 71 w 210"/>
              <a:gd name="T23" fmla="*/ 110 h 203"/>
              <a:gd name="T24" fmla="*/ 85 w 210"/>
              <a:gd name="T25" fmla="*/ 125 h 203"/>
              <a:gd name="T26" fmla="*/ 104 w 210"/>
              <a:gd name="T27" fmla="*/ 143 h 203"/>
              <a:gd name="T28" fmla="*/ 62 w 210"/>
              <a:gd name="T29" fmla="*/ 189 h 203"/>
              <a:gd name="T30" fmla="*/ 63 w 210"/>
              <a:gd name="T31" fmla="*/ 200 h 203"/>
              <a:gd name="T32" fmla="*/ 74 w 210"/>
              <a:gd name="T33" fmla="*/ 200 h 203"/>
              <a:gd name="T34" fmla="*/ 118 w 210"/>
              <a:gd name="T35" fmla="*/ 151 h 203"/>
              <a:gd name="T36" fmla="*/ 137 w 210"/>
              <a:gd name="T37" fmla="*/ 154 h 203"/>
              <a:gd name="T38" fmla="*/ 181 w 210"/>
              <a:gd name="T39" fmla="*/ 111 h 203"/>
              <a:gd name="T40" fmla="*/ 181 w 210"/>
              <a:gd name="T41" fmla="*/ 110 h 203"/>
              <a:gd name="T42" fmla="*/ 204 w 210"/>
              <a:gd name="T43" fmla="*/ 87 h 203"/>
              <a:gd name="T44" fmla="*/ 205 w 210"/>
              <a:gd name="T45" fmla="*/ 86 h 203"/>
              <a:gd name="T46" fmla="*/ 177 w 210"/>
              <a:gd name="T47" fmla="*/ 34 h 203"/>
              <a:gd name="T48" fmla="*/ 197 w 210"/>
              <a:gd name="T49" fmla="*/ 79 h 203"/>
              <a:gd name="T50" fmla="*/ 158 w 210"/>
              <a:gd name="T51" fmla="*/ 54 h 203"/>
              <a:gd name="T52" fmla="*/ 132 w 210"/>
              <a:gd name="T53" fmla="*/ 14 h 203"/>
              <a:gd name="T54" fmla="*/ 172 w 210"/>
              <a:gd name="T55" fmla="*/ 39 h 203"/>
              <a:gd name="T56" fmla="*/ 197 w 210"/>
              <a:gd name="T57" fmla="*/ 79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0" h="203">
                <a:moveTo>
                  <a:pt x="177" y="34"/>
                </a:moveTo>
                <a:cubicBezTo>
                  <a:pt x="155" y="12"/>
                  <a:pt x="131" y="0"/>
                  <a:pt x="125" y="7"/>
                </a:cubicBezTo>
                <a:cubicBezTo>
                  <a:pt x="124" y="7"/>
                  <a:pt x="124" y="7"/>
                  <a:pt x="124" y="7"/>
                </a:cubicBezTo>
                <a:cubicBezTo>
                  <a:pt x="124" y="7"/>
                  <a:pt x="124" y="7"/>
                  <a:pt x="124" y="7"/>
                </a:cubicBezTo>
                <a:lnTo>
                  <a:pt x="100" y="31"/>
                </a:lnTo>
                <a:lnTo>
                  <a:pt x="100" y="31"/>
                </a:lnTo>
                <a:lnTo>
                  <a:pt x="57" y="75"/>
                </a:lnTo>
                <a:cubicBezTo>
                  <a:pt x="57" y="75"/>
                  <a:pt x="52" y="81"/>
                  <a:pt x="62" y="97"/>
                </a:cubicBezTo>
                <a:lnTo>
                  <a:pt x="4" y="145"/>
                </a:lnTo>
                <a:cubicBezTo>
                  <a:pt x="1" y="148"/>
                  <a:pt x="0" y="153"/>
                  <a:pt x="3" y="156"/>
                </a:cubicBezTo>
                <a:cubicBezTo>
                  <a:pt x="5" y="159"/>
                  <a:pt x="10" y="160"/>
                  <a:pt x="14" y="157"/>
                </a:cubicBezTo>
                <a:lnTo>
                  <a:pt x="71" y="110"/>
                </a:lnTo>
                <a:cubicBezTo>
                  <a:pt x="75" y="115"/>
                  <a:pt x="79" y="120"/>
                  <a:pt x="85" y="125"/>
                </a:cubicBezTo>
                <a:cubicBezTo>
                  <a:pt x="92" y="133"/>
                  <a:pt x="99" y="138"/>
                  <a:pt x="104" y="143"/>
                </a:cubicBezTo>
                <a:lnTo>
                  <a:pt x="62" y="189"/>
                </a:lnTo>
                <a:cubicBezTo>
                  <a:pt x="60" y="192"/>
                  <a:pt x="60" y="197"/>
                  <a:pt x="63" y="200"/>
                </a:cubicBezTo>
                <a:cubicBezTo>
                  <a:pt x="66" y="203"/>
                  <a:pt x="71" y="203"/>
                  <a:pt x="74" y="200"/>
                </a:cubicBezTo>
                <a:lnTo>
                  <a:pt x="118" y="151"/>
                </a:lnTo>
                <a:cubicBezTo>
                  <a:pt x="133" y="159"/>
                  <a:pt x="138" y="153"/>
                  <a:pt x="137" y="154"/>
                </a:cubicBezTo>
                <a:lnTo>
                  <a:pt x="181" y="111"/>
                </a:lnTo>
                <a:cubicBezTo>
                  <a:pt x="181" y="111"/>
                  <a:pt x="181" y="110"/>
                  <a:pt x="181" y="110"/>
                </a:cubicBezTo>
                <a:lnTo>
                  <a:pt x="204" y="87"/>
                </a:lnTo>
                <a:cubicBezTo>
                  <a:pt x="204" y="87"/>
                  <a:pt x="205" y="86"/>
                  <a:pt x="205" y="86"/>
                </a:cubicBezTo>
                <a:cubicBezTo>
                  <a:pt x="210" y="78"/>
                  <a:pt x="198" y="56"/>
                  <a:pt x="177" y="34"/>
                </a:cubicBezTo>
                <a:close/>
                <a:moveTo>
                  <a:pt x="197" y="79"/>
                </a:moveTo>
                <a:cubicBezTo>
                  <a:pt x="194" y="83"/>
                  <a:pt x="176" y="72"/>
                  <a:pt x="158" y="54"/>
                </a:cubicBezTo>
                <a:cubicBezTo>
                  <a:pt x="140" y="36"/>
                  <a:pt x="128" y="18"/>
                  <a:pt x="132" y="14"/>
                </a:cubicBezTo>
                <a:cubicBezTo>
                  <a:pt x="136" y="10"/>
                  <a:pt x="154" y="21"/>
                  <a:pt x="172" y="39"/>
                </a:cubicBezTo>
                <a:cubicBezTo>
                  <a:pt x="190" y="57"/>
                  <a:pt x="201" y="75"/>
                  <a:pt x="197" y="79"/>
                </a:cubicBezTo>
                <a:close/>
              </a:path>
            </a:pathLst>
          </a:cu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 name="文本框 9">
            <a:extLst>
              <a:ext uri="{FF2B5EF4-FFF2-40B4-BE49-F238E27FC236}">
                <a16:creationId xmlns:a16="http://schemas.microsoft.com/office/drawing/2014/main" id="{2D6DAFDF-EF08-3092-E01D-A19AD52B4A19}"/>
              </a:ext>
            </a:extLst>
          </p:cNvPr>
          <p:cNvSpPr txBox="1"/>
          <p:nvPr/>
        </p:nvSpPr>
        <p:spPr>
          <a:xfrm>
            <a:off x="1987749" y="3277100"/>
            <a:ext cx="8216502" cy="1815882"/>
          </a:xfrm>
          <a:prstGeom prst="rect">
            <a:avLst/>
          </a:prstGeom>
          <a:noFill/>
        </p:spPr>
        <p:txBody>
          <a:bodyPr wrap="square" rtlCol="0">
            <a:spAutoFit/>
          </a:bodyPr>
          <a:lstStyle/>
          <a:p>
            <a:pPr algn="ctr">
              <a:lnSpc>
                <a:spcPct val="150000"/>
              </a:lnSpc>
            </a:pPr>
            <a:r>
              <a:rPr lang="zh-CN" altLang="en-US" sz="2800" dirty="0"/>
              <a:t>我们知道，电容可以让它附近的电压变得稳定。从而使得</a:t>
            </a:r>
            <a:r>
              <a:rPr lang="zh-CN" altLang="en-US" sz="2800" b="1" dirty="0"/>
              <a:t>附近</a:t>
            </a:r>
            <a:r>
              <a:rPr lang="zh-CN" altLang="en-US" sz="2800" dirty="0"/>
              <a:t>的元件能够更加稳定地工作。</a:t>
            </a:r>
            <a:endParaRPr lang="en-US" altLang="zh-CN" sz="2800" dirty="0"/>
          </a:p>
          <a:p>
            <a:pPr algn="ctr"/>
            <a:r>
              <a:rPr lang="zh-CN" altLang="en-US" sz="2800" dirty="0">
                <a:solidFill>
                  <a:srgbClr val="FF0000"/>
                </a:solidFill>
              </a:rPr>
              <a:t>不过这个附近是多大一个范围呢？</a:t>
            </a:r>
            <a:endParaRPr lang="en-US" altLang="zh-CN" sz="2800" dirty="0">
              <a:solidFill>
                <a:srgbClr val="FF0000"/>
              </a:solidFill>
            </a:endParaRPr>
          </a:p>
        </p:txBody>
      </p:sp>
    </p:spTree>
    <p:custDataLst>
      <p:tags r:id="rId1"/>
    </p:custDataLst>
    <p:extLst>
      <p:ext uri="{BB962C8B-B14F-4D97-AF65-F5344CB8AC3E}">
        <p14:creationId xmlns:p14="http://schemas.microsoft.com/office/powerpoint/2010/main" val="232485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B3F58-4F08-A1EC-CA0C-F88D848F5629}"/>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F4624AF0-96FB-E239-CD46-6BAFF1870D53}"/>
              </a:ext>
            </a:extLst>
          </p:cNvPr>
          <p:cNvSpPr/>
          <p:nvPr/>
        </p:nvSpPr>
        <p:spPr>
          <a:xfrm>
            <a:off x="2096967" y="262154"/>
            <a:ext cx="1980029" cy="400110"/>
          </a:xfrm>
          <a:prstGeom prst="rect">
            <a:avLst/>
          </a:prstGeom>
          <a:noFill/>
          <a:ln>
            <a:noFill/>
          </a:ln>
        </p:spPr>
        <p:txBody>
          <a:bodyPr wrap="none" rtlCol="0" anchor="t">
            <a:spAutoFit/>
          </a:bodyPr>
          <a:lstStyle/>
          <a:p>
            <a:pPr algn="ctr"/>
            <a:r>
              <a:rPr lang="zh-CN" altLang="en-US" sz="2000" dirty="0">
                <a:solidFill>
                  <a:schemeClr val="tx1"/>
                </a:solidFill>
                <a:effectLst>
                  <a:outerShdw blurRad="38100" dist="19050" dir="2700000" algn="tl" rotWithShape="0">
                    <a:schemeClr val="dk1">
                      <a:alpha val="40000"/>
                    </a:schemeClr>
                  </a:outerShdw>
                </a:effectLst>
              </a:rPr>
              <a:t>电容的滤波半径</a:t>
            </a:r>
            <a:endParaRPr lang="en-US" altLang="zh-CN" sz="2000" dirty="0">
              <a:solidFill>
                <a:schemeClr val="tx1"/>
              </a:solidFill>
              <a:effectLst>
                <a:outerShdw blurRad="38100" dist="19050" dir="2700000" algn="tl" rotWithShape="0">
                  <a:schemeClr val="dk1">
                    <a:alpha val="40000"/>
                  </a:schemeClr>
                </a:outerShdw>
              </a:effectLst>
            </a:endParaRPr>
          </a:p>
        </p:txBody>
      </p:sp>
      <p:sp>
        <p:nvSpPr>
          <p:cNvPr id="9" name="capacitor_1977">
            <a:extLst>
              <a:ext uri="{FF2B5EF4-FFF2-40B4-BE49-F238E27FC236}">
                <a16:creationId xmlns:a16="http://schemas.microsoft.com/office/drawing/2014/main" id="{319B573F-7318-ABCC-6D03-79AFD31136BE}"/>
              </a:ext>
            </a:extLst>
          </p:cNvPr>
          <p:cNvSpPr/>
          <p:nvPr/>
        </p:nvSpPr>
        <p:spPr>
          <a:xfrm>
            <a:off x="2212138" y="2289156"/>
            <a:ext cx="874866" cy="844238"/>
          </a:xfrm>
          <a:custGeom>
            <a:avLst/>
            <a:gdLst>
              <a:gd name="T0" fmla="*/ 177 w 210"/>
              <a:gd name="T1" fmla="*/ 34 h 203"/>
              <a:gd name="T2" fmla="*/ 125 w 210"/>
              <a:gd name="T3" fmla="*/ 7 h 203"/>
              <a:gd name="T4" fmla="*/ 124 w 210"/>
              <a:gd name="T5" fmla="*/ 7 h 203"/>
              <a:gd name="T6" fmla="*/ 124 w 210"/>
              <a:gd name="T7" fmla="*/ 7 h 203"/>
              <a:gd name="T8" fmla="*/ 100 w 210"/>
              <a:gd name="T9" fmla="*/ 31 h 203"/>
              <a:gd name="T10" fmla="*/ 100 w 210"/>
              <a:gd name="T11" fmla="*/ 31 h 203"/>
              <a:gd name="T12" fmla="*/ 57 w 210"/>
              <a:gd name="T13" fmla="*/ 75 h 203"/>
              <a:gd name="T14" fmla="*/ 62 w 210"/>
              <a:gd name="T15" fmla="*/ 97 h 203"/>
              <a:gd name="T16" fmla="*/ 4 w 210"/>
              <a:gd name="T17" fmla="*/ 145 h 203"/>
              <a:gd name="T18" fmla="*/ 3 w 210"/>
              <a:gd name="T19" fmla="*/ 156 h 203"/>
              <a:gd name="T20" fmla="*/ 14 w 210"/>
              <a:gd name="T21" fmla="*/ 157 h 203"/>
              <a:gd name="T22" fmla="*/ 71 w 210"/>
              <a:gd name="T23" fmla="*/ 110 h 203"/>
              <a:gd name="T24" fmla="*/ 85 w 210"/>
              <a:gd name="T25" fmla="*/ 125 h 203"/>
              <a:gd name="T26" fmla="*/ 104 w 210"/>
              <a:gd name="T27" fmla="*/ 143 h 203"/>
              <a:gd name="T28" fmla="*/ 62 w 210"/>
              <a:gd name="T29" fmla="*/ 189 h 203"/>
              <a:gd name="T30" fmla="*/ 63 w 210"/>
              <a:gd name="T31" fmla="*/ 200 h 203"/>
              <a:gd name="T32" fmla="*/ 74 w 210"/>
              <a:gd name="T33" fmla="*/ 200 h 203"/>
              <a:gd name="T34" fmla="*/ 118 w 210"/>
              <a:gd name="T35" fmla="*/ 151 h 203"/>
              <a:gd name="T36" fmla="*/ 137 w 210"/>
              <a:gd name="T37" fmla="*/ 154 h 203"/>
              <a:gd name="T38" fmla="*/ 181 w 210"/>
              <a:gd name="T39" fmla="*/ 111 h 203"/>
              <a:gd name="T40" fmla="*/ 181 w 210"/>
              <a:gd name="T41" fmla="*/ 110 h 203"/>
              <a:gd name="T42" fmla="*/ 204 w 210"/>
              <a:gd name="T43" fmla="*/ 87 h 203"/>
              <a:gd name="T44" fmla="*/ 205 w 210"/>
              <a:gd name="T45" fmla="*/ 86 h 203"/>
              <a:gd name="T46" fmla="*/ 177 w 210"/>
              <a:gd name="T47" fmla="*/ 34 h 203"/>
              <a:gd name="T48" fmla="*/ 197 w 210"/>
              <a:gd name="T49" fmla="*/ 79 h 203"/>
              <a:gd name="T50" fmla="*/ 158 w 210"/>
              <a:gd name="T51" fmla="*/ 54 h 203"/>
              <a:gd name="T52" fmla="*/ 132 w 210"/>
              <a:gd name="T53" fmla="*/ 14 h 203"/>
              <a:gd name="T54" fmla="*/ 172 w 210"/>
              <a:gd name="T55" fmla="*/ 39 h 203"/>
              <a:gd name="T56" fmla="*/ 197 w 210"/>
              <a:gd name="T57" fmla="*/ 79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0" h="203">
                <a:moveTo>
                  <a:pt x="177" y="34"/>
                </a:moveTo>
                <a:cubicBezTo>
                  <a:pt x="155" y="12"/>
                  <a:pt x="131" y="0"/>
                  <a:pt x="125" y="7"/>
                </a:cubicBezTo>
                <a:cubicBezTo>
                  <a:pt x="124" y="7"/>
                  <a:pt x="124" y="7"/>
                  <a:pt x="124" y="7"/>
                </a:cubicBezTo>
                <a:cubicBezTo>
                  <a:pt x="124" y="7"/>
                  <a:pt x="124" y="7"/>
                  <a:pt x="124" y="7"/>
                </a:cubicBezTo>
                <a:lnTo>
                  <a:pt x="100" y="31"/>
                </a:lnTo>
                <a:lnTo>
                  <a:pt x="100" y="31"/>
                </a:lnTo>
                <a:lnTo>
                  <a:pt x="57" y="75"/>
                </a:lnTo>
                <a:cubicBezTo>
                  <a:pt x="57" y="75"/>
                  <a:pt x="52" y="81"/>
                  <a:pt x="62" y="97"/>
                </a:cubicBezTo>
                <a:lnTo>
                  <a:pt x="4" y="145"/>
                </a:lnTo>
                <a:cubicBezTo>
                  <a:pt x="1" y="148"/>
                  <a:pt x="0" y="153"/>
                  <a:pt x="3" y="156"/>
                </a:cubicBezTo>
                <a:cubicBezTo>
                  <a:pt x="5" y="159"/>
                  <a:pt x="10" y="160"/>
                  <a:pt x="14" y="157"/>
                </a:cubicBezTo>
                <a:lnTo>
                  <a:pt x="71" y="110"/>
                </a:lnTo>
                <a:cubicBezTo>
                  <a:pt x="75" y="115"/>
                  <a:pt x="79" y="120"/>
                  <a:pt x="85" y="125"/>
                </a:cubicBezTo>
                <a:cubicBezTo>
                  <a:pt x="92" y="133"/>
                  <a:pt x="99" y="138"/>
                  <a:pt x="104" y="143"/>
                </a:cubicBezTo>
                <a:lnTo>
                  <a:pt x="62" y="189"/>
                </a:lnTo>
                <a:cubicBezTo>
                  <a:pt x="60" y="192"/>
                  <a:pt x="60" y="197"/>
                  <a:pt x="63" y="200"/>
                </a:cubicBezTo>
                <a:cubicBezTo>
                  <a:pt x="66" y="203"/>
                  <a:pt x="71" y="203"/>
                  <a:pt x="74" y="200"/>
                </a:cubicBezTo>
                <a:lnTo>
                  <a:pt x="118" y="151"/>
                </a:lnTo>
                <a:cubicBezTo>
                  <a:pt x="133" y="159"/>
                  <a:pt x="138" y="153"/>
                  <a:pt x="137" y="154"/>
                </a:cubicBezTo>
                <a:lnTo>
                  <a:pt x="181" y="111"/>
                </a:lnTo>
                <a:cubicBezTo>
                  <a:pt x="181" y="111"/>
                  <a:pt x="181" y="110"/>
                  <a:pt x="181" y="110"/>
                </a:cubicBezTo>
                <a:lnTo>
                  <a:pt x="204" y="87"/>
                </a:lnTo>
                <a:cubicBezTo>
                  <a:pt x="204" y="87"/>
                  <a:pt x="205" y="86"/>
                  <a:pt x="205" y="86"/>
                </a:cubicBezTo>
                <a:cubicBezTo>
                  <a:pt x="210" y="78"/>
                  <a:pt x="198" y="56"/>
                  <a:pt x="177" y="34"/>
                </a:cubicBezTo>
                <a:close/>
                <a:moveTo>
                  <a:pt x="197" y="79"/>
                </a:moveTo>
                <a:cubicBezTo>
                  <a:pt x="194" y="83"/>
                  <a:pt x="176" y="72"/>
                  <a:pt x="158" y="54"/>
                </a:cubicBezTo>
                <a:cubicBezTo>
                  <a:pt x="140" y="36"/>
                  <a:pt x="128" y="18"/>
                  <a:pt x="132" y="14"/>
                </a:cubicBezTo>
                <a:cubicBezTo>
                  <a:pt x="136" y="10"/>
                  <a:pt x="154" y="21"/>
                  <a:pt x="172" y="39"/>
                </a:cubicBezTo>
                <a:cubicBezTo>
                  <a:pt x="190" y="57"/>
                  <a:pt x="201" y="75"/>
                  <a:pt x="197" y="79"/>
                </a:cubicBezTo>
                <a:close/>
              </a:path>
            </a:pathLst>
          </a:cu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 name="文本框 9">
            <a:extLst>
              <a:ext uri="{FF2B5EF4-FFF2-40B4-BE49-F238E27FC236}">
                <a16:creationId xmlns:a16="http://schemas.microsoft.com/office/drawing/2014/main" id="{61210AF3-96F6-8D86-0881-283DDB4ABD52}"/>
              </a:ext>
            </a:extLst>
          </p:cNvPr>
          <p:cNvSpPr txBox="1"/>
          <p:nvPr/>
        </p:nvSpPr>
        <p:spPr>
          <a:xfrm>
            <a:off x="1450179" y="4325453"/>
            <a:ext cx="9291639" cy="1261884"/>
          </a:xfrm>
          <a:prstGeom prst="rect">
            <a:avLst/>
          </a:prstGeom>
          <a:noFill/>
        </p:spPr>
        <p:txBody>
          <a:bodyPr wrap="square" rtlCol="0">
            <a:spAutoFit/>
          </a:bodyPr>
          <a:lstStyle/>
          <a:p>
            <a:pPr algn="ctr"/>
            <a:r>
              <a:rPr lang="zh-CN" altLang="en-US" sz="2800" dirty="0"/>
              <a:t>简单来说，这个范围取决于电容的容值，电容的容值越大，滤波半径越大，电容的容值越小，滤波半径越小。</a:t>
            </a:r>
            <a:endParaRPr lang="en-US" altLang="zh-CN" sz="2800" dirty="0"/>
          </a:p>
          <a:p>
            <a:pPr algn="ctr"/>
            <a:r>
              <a:rPr lang="zh-CN" altLang="en-US" dirty="0">
                <a:solidFill>
                  <a:schemeClr val="accent2"/>
                </a:solidFill>
              </a:rPr>
              <a:t>（真实的半径应该是沿着导线分布，并非完美圆形）</a:t>
            </a:r>
            <a:endParaRPr lang="en-US" altLang="zh-CN" dirty="0">
              <a:solidFill>
                <a:schemeClr val="accent2"/>
              </a:solidFill>
            </a:endParaRPr>
          </a:p>
        </p:txBody>
      </p:sp>
      <p:sp>
        <p:nvSpPr>
          <p:cNvPr id="2" name="椭圆 1">
            <a:extLst>
              <a:ext uri="{FF2B5EF4-FFF2-40B4-BE49-F238E27FC236}">
                <a16:creationId xmlns:a16="http://schemas.microsoft.com/office/drawing/2014/main" id="{998BF84E-CB19-A8A2-375E-483F84AD0FD4}"/>
              </a:ext>
            </a:extLst>
          </p:cNvPr>
          <p:cNvSpPr/>
          <p:nvPr/>
        </p:nvSpPr>
        <p:spPr>
          <a:xfrm>
            <a:off x="1283790" y="1258549"/>
            <a:ext cx="2895304" cy="2895304"/>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capacitor_1977">
            <a:extLst>
              <a:ext uri="{FF2B5EF4-FFF2-40B4-BE49-F238E27FC236}">
                <a16:creationId xmlns:a16="http://schemas.microsoft.com/office/drawing/2014/main" id="{1F6DF259-8804-B882-64BD-90EE232F0A42}"/>
              </a:ext>
            </a:extLst>
          </p:cNvPr>
          <p:cNvSpPr/>
          <p:nvPr/>
        </p:nvSpPr>
        <p:spPr>
          <a:xfrm>
            <a:off x="5807190" y="2474893"/>
            <a:ext cx="607898" cy="586616"/>
          </a:xfrm>
          <a:custGeom>
            <a:avLst/>
            <a:gdLst>
              <a:gd name="T0" fmla="*/ 177 w 210"/>
              <a:gd name="T1" fmla="*/ 34 h 203"/>
              <a:gd name="T2" fmla="*/ 125 w 210"/>
              <a:gd name="T3" fmla="*/ 7 h 203"/>
              <a:gd name="T4" fmla="*/ 124 w 210"/>
              <a:gd name="T5" fmla="*/ 7 h 203"/>
              <a:gd name="T6" fmla="*/ 124 w 210"/>
              <a:gd name="T7" fmla="*/ 7 h 203"/>
              <a:gd name="T8" fmla="*/ 100 w 210"/>
              <a:gd name="T9" fmla="*/ 31 h 203"/>
              <a:gd name="T10" fmla="*/ 100 w 210"/>
              <a:gd name="T11" fmla="*/ 31 h 203"/>
              <a:gd name="T12" fmla="*/ 57 w 210"/>
              <a:gd name="T13" fmla="*/ 75 h 203"/>
              <a:gd name="T14" fmla="*/ 62 w 210"/>
              <a:gd name="T15" fmla="*/ 97 h 203"/>
              <a:gd name="T16" fmla="*/ 4 w 210"/>
              <a:gd name="T17" fmla="*/ 145 h 203"/>
              <a:gd name="T18" fmla="*/ 3 w 210"/>
              <a:gd name="T19" fmla="*/ 156 h 203"/>
              <a:gd name="T20" fmla="*/ 14 w 210"/>
              <a:gd name="T21" fmla="*/ 157 h 203"/>
              <a:gd name="T22" fmla="*/ 71 w 210"/>
              <a:gd name="T23" fmla="*/ 110 h 203"/>
              <a:gd name="T24" fmla="*/ 85 w 210"/>
              <a:gd name="T25" fmla="*/ 125 h 203"/>
              <a:gd name="T26" fmla="*/ 104 w 210"/>
              <a:gd name="T27" fmla="*/ 143 h 203"/>
              <a:gd name="T28" fmla="*/ 62 w 210"/>
              <a:gd name="T29" fmla="*/ 189 h 203"/>
              <a:gd name="T30" fmla="*/ 63 w 210"/>
              <a:gd name="T31" fmla="*/ 200 h 203"/>
              <a:gd name="T32" fmla="*/ 74 w 210"/>
              <a:gd name="T33" fmla="*/ 200 h 203"/>
              <a:gd name="T34" fmla="*/ 118 w 210"/>
              <a:gd name="T35" fmla="*/ 151 h 203"/>
              <a:gd name="T36" fmla="*/ 137 w 210"/>
              <a:gd name="T37" fmla="*/ 154 h 203"/>
              <a:gd name="T38" fmla="*/ 181 w 210"/>
              <a:gd name="T39" fmla="*/ 111 h 203"/>
              <a:gd name="T40" fmla="*/ 181 w 210"/>
              <a:gd name="T41" fmla="*/ 110 h 203"/>
              <a:gd name="T42" fmla="*/ 204 w 210"/>
              <a:gd name="T43" fmla="*/ 87 h 203"/>
              <a:gd name="T44" fmla="*/ 205 w 210"/>
              <a:gd name="T45" fmla="*/ 86 h 203"/>
              <a:gd name="T46" fmla="*/ 177 w 210"/>
              <a:gd name="T47" fmla="*/ 34 h 203"/>
              <a:gd name="T48" fmla="*/ 197 w 210"/>
              <a:gd name="T49" fmla="*/ 79 h 203"/>
              <a:gd name="T50" fmla="*/ 158 w 210"/>
              <a:gd name="T51" fmla="*/ 54 h 203"/>
              <a:gd name="T52" fmla="*/ 132 w 210"/>
              <a:gd name="T53" fmla="*/ 14 h 203"/>
              <a:gd name="T54" fmla="*/ 172 w 210"/>
              <a:gd name="T55" fmla="*/ 39 h 203"/>
              <a:gd name="T56" fmla="*/ 197 w 210"/>
              <a:gd name="T57" fmla="*/ 79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0" h="203">
                <a:moveTo>
                  <a:pt x="177" y="34"/>
                </a:moveTo>
                <a:cubicBezTo>
                  <a:pt x="155" y="12"/>
                  <a:pt x="131" y="0"/>
                  <a:pt x="125" y="7"/>
                </a:cubicBezTo>
                <a:cubicBezTo>
                  <a:pt x="124" y="7"/>
                  <a:pt x="124" y="7"/>
                  <a:pt x="124" y="7"/>
                </a:cubicBezTo>
                <a:cubicBezTo>
                  <a:pt x="124" y="7"/>
                  <a:pt x="124" y="7"/>
                  <a:pt x="124" y="7"/>
                </a:cubicBezTo>
                <a:lnTo>
                  <a:pt x="100" y="31"/>
                </a:lnTo>
                <a:lnTo>
                  <a:pt x="100" y="31"/>
                </a:lnTo>
                <a:lnTo>
                  <a:pt x="57" y="75"/>
                </a:lnTo>
                <a:cubicBezTo>
                  <a:pt x="57" y="75"/>
                  <a:pt x="52" y="81"/>
                  <a:pt x="62" y="97"/>
                </a:cubicBezTo>
                <a:lnTo>
                  <a:pt x="4" y="145"/>
                </a:lnTo>
                <a:cubicBezTo>
                  <a:pt x="1" y="148"/>
                  <a:pt x="0" y="153"/>
                  <a:pt x="3" y="156"/>
                </a:cubicBezTo>
                <a:cubicBezTo>
                  <a:pt x="5" y="159"/>
                  <a:pt x="10" y="160"/>
                  <a:pt x="14" y="157"/>
                </a:cubicBezTo>
                <a:lnTo>
                  <a:pt x="71" y="110"/>
                </a:lnTo>
                <a:cubicBezTo>
                  <a:pt x="75" y="115"/>
                  <a:pt x="79" y="120"/>
                  <a:pt x="85" y="125"/>
                </a:cubicBezTo>
                <a:cubicBezTo>
                  <a:pt x="92" y="133"/>
                  <a:pt x="99" y="138"/>
                  <a:pt x="104" y="143"/>
                </a:cubicBezTo>
                <a:lnTo>
                  <a:pt x="62" y="189"/>
                </a:lnTo>
                <a:cubicBezTo>
                  <a:pt x="60" y="192"/>
                  <a:pt x="60" y="197"/>
                  <a:pt x="63" y="200"/>
                </a:cubicBezTo>
                <a:cubicBezTo>
                  <a:pt x="66" y="203"/>
                  <a:pt x="71" y="203"/>
                  <a:pt x="74" y="200"/>
                </a:cubicBezTo>
                <a:lnTo>
                  <a:pt x="118" y="151"/>
                </a:lnTo>
                <a:cubicBezTo>
                  <a:pt x="133" y="159"/>
                  <a:pt x="138" y="153"/>
                  <a:pt x="137" y="154"/>
                </a:cubicBezTo>
                <a:lnTo>
                  <a:pt x="181" y="111"/>
                </a:lnTo>
                <a:cubicBezTo>
                  <a:pt x="181" y="111"/>
                  <a:pt x="181" y="110"/>
                  <a:pt x="181" y="110"/>
                </a:cubicBezTo>
                <a:lnTo>
                  <a:pt x="204" y="87"/>
                </a:lnTo>
                <a:cubicBezTo>
                  <a:pt x="204" y="87"/>
                  <a:pt x="205" y="86"/>
                  <a:pt x="205" y="86"/>
                </a:cubicBezTo>
                <a:cubicBezTo>
                  <a:pt x="210" y="78"/>
                  <a:pt x="198" y="56"/>
                  <a:pt x="177" y="34"/>
                </a:cubicBezTo>
                <a:close/>
                <a:moveTo>
                  <a:pt x="197" y="79"/>
                </a:moveTo>
                <a:cubicBezTo>
                  <a:pt x="194" y="83"/>
                  <a:pt x="176" y="72"/>
                  <a:pt x="158" y="54"/>
                </a:cubicBezTo>
                <a:cubicBezTo>
                  <a:pt x="140" y="36"/>
                  <a:pt x="128" y="18"/>
                  <a:pt x="132" y="14"/>
                </a:cubicBezTo>
                <a:cubicBezTo>
                  <a:pt x="136" y="10"/>
                  <a:pt x="154" y="21"/>
                  <a:pt x="172" y="39"/>
                </a:cubicBezTo>
                <a:cubicBezTo>
                  <a:pt x="190" y="57"/>
                  <a:pt x="201" y="75"/>
                  <a:pt x="197" y="79"/>
                </a:cubicBezTo>
                <a:close/>
              </a:path>
            </a:pathLst>
          </a:cu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 name="椭圆 3">
            <a:extLst>
              <a:ext uri="{FF2B5EF4-FFF2-40B4-BE49-F238E27FC236}">
                <a16:creationId xmlns:a16="http://schemas.microsoft.com/office/drawing/2014/main" id="{3BC562C7-5039-D5A8-3C6E-386CC69FB02D}"/>
              </a:ext>
            </a:extLst>
          </p:cNvPr>
          <p:cNvSpPr/>
          <p:nvPr/>
        </p:nvSpPr>
        <p:spPr>
          <a:xfrm>
            <a:off x="5107442" y="1772899"/>
            <a:ext cx="1999001" cy="1999001"/>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apacitor_1977">
            <a:extLst>
              <a:ext uri="{FF2B5EF4-FFF2-40B4-BE49-F238E27FC236}">
                <a16:creationId xmlns:a16="http://schemas.microsoft.com/office/drawing/2014/main" id="{BC5D0338-BD8A-F068-29F2-702E68AA7390}"/>
              </a:ext>
            </a:extLst>
          </p:cNvPr>
          <p:cNvSpPr/>
          <p:nvPr/>
        </p:nvSpPr>
        <p:spPr>
          <a:xfrm>
            <a:off x="8813121" y="2555466"/>
            <a:ext cx="440906" cy="425470"/>
          </a:xfrm>
          <a:custGeom>
            <a:avLst/>
            <a:gdLst>
              <a:gd name="T0" fmla="*/ 177 w 210"/>
              <a:gd name="T1" fmla="*/ 34 h 203"/>
              <a:gd name="T2" fmla="*/ 125 w 210"/>
              <a:gd name="T3" fmla="*/ 7 h 203"/>
              <a:gd name="T4" fmla="*/ 124 w 210"/>
              <a:gd name="T5" fmla="*/ 7 h 203"/>
              <a:gd name="T6" fmla="*/ 124 w 210"/>
              <a:gd name="T7" fmla="*/ 7 h 203"/>
              <a:gd name="T8" fmla="*/ 100 w 210"/>
              <a:gd name="T9" fmla="*/ 31 h 203"/>
              <a:gd name="T10" fmla="*/ 100 w 210"/>
              <a:gd name="T11" fmla="*/ 31 h 203"/>
              <a:gd name="T12" fmla="*/ 57 w 210"/>
              <a:gd name="T13" fmla="*/ 75 h 203"/>
              <a:gd name="T14" fmla="*/ 62 w 210"/>
              <a:gd name="T15" fmla="*/ 97 h 203"/>
              <a:gd name="T16" fmla="*/ 4 w 210"/>
              <a:gd name="T17" fmla="*/ 145 h 203"/>
              <a:gd name="T18" fmla="*/ 3 w 210"/>
              <a:gd name="T19" fmla="*/ 156 h 203"/>
              <a:gd name="T20" fmla="*/ 14 w 210"/>
              <a:gd name="T21" fmla="*/ 157 h 203"/>
              <a:gd name="T22" fmla="*/ 71 w 210"/>
              <a:gd name="T23" fmla="*/ 110 h 203"/>
              <a:gd name="T24" fmla="*/ 85 w 210"/>
              <a:gd name="T25" fmla="*/ 125 h 203"/>
              <a:gd name="T26" fmla="*/ 104 w 210"/>
              <a:gd name="T27" fmla="*/ 143 h 203"/>
              <a:gd name="T28" fmla="*/ 62 w 210"/>
              <a:gd name="T29" fmla="*/ 189 h 203"/>
              <a:gd name="T30" fmla="*/ 63 w 210"/>
              <a:gd name="T31" fmla="*/ 200 h 203"/>
              <a:gd name="T32" fmla="*/ 74 w 210"/>
              <a:gd name="T33" fmla="*/ 200 h 203"/>
              <a:gd name="T34" fmla="*/ 118 w 210"/>
              <a:gd name="T35" fmla="*/ 151 h 203"/>
              <a:gd name="T36" fmla="*/ 137 w 210"/>
              <a:gd name="T37" fmla="*/ 154 h 203"/>
              <a:gd name="T38" fmla="*/ 181 w 210"/>
              <a:gd name="T39" fmla="*/ 111 h 203"/>
              <a:gd name="T40" fmla="*/ 181 w 210"/>
              <a:gd name="T41" fmla="*/ 110 h 203"/>
              <a:gd name="T42" fmla="*/ 204 w 210"/>
              <a:gd name="T43" fmla="*/ 87 h 203"/>
              <a:gd name="T44" fmla="*/ 205 w 210"/>
              <a:gd name="T45" fmla="*/ 86 h 203"/>
              <a:gd name="T46" fmla="*/ 177 w 210"/>
              <a:gd name="T47" fmla="*/ 34 h 203"/>
              <a:gd name="T48" fmla="*/ 197 w 210"/>
              <a:gd name="T49" fmla="*/ 79 h 203"/>
              <a:gd name="T50" fmla="*/ 158 w 210"/>
              <a:gd name="T51" fmla="*/ 54 h 203"/>
              <a:gd name="T52" fmla="*/ 132 w 210"/>
              <a:gd name="T53" fmla="*/ 14 h 203"/>
              <a:gd name="T54" fmla="*/ 172 w 210"/>
              <a:gd name="T55" fmla="*/ 39 h 203"/>
              <a:gd name="T56" fmla="*/ 197 w 210"/>
              <a:gd name="T57" fmla="*/ 79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0" h="203">
                <a:moveTo>
                  <a:pt x="177" y="34"/>
                </a:moveTo>
                <a:cubicBezTo>
                  <a:pt x="155" y="12"/>
                  <a:pt x="131" y="0"/>
                  <a:pt x="125" y="7"/>
                </a:cubicBezTo>
                <a:cubicBezTo>
                  <a:pt x="124" y="7"/>
                  <a:pt x="124" y="7"/>
                  <a:pt x="124" y="7"/>
                </a:cubicBezTo>
                <a:cubicBezTo>
                  <a:pt x="124" y="7"/>
                  <a:pt x="124" y="7"/>
                  <a:pt x="124" y="7"/>
                </a:cubicBezTo>
                <a:lnTo>
                  <a:pt x="100" y="31"/>
                </a:lnTo>
                <a:lnTo>
                  <a:pt x="100" y="31"/>
                </a:lnTo>
                <a:lnTo>
                  <a:pt x="57" y="75"/>
                </a:lnTo>
                <a:cubicBezTo>
                  <a:pt x="57" y="75"/>
                  <a:pt x="52" y="81"/>
                  <a:pt x="62" y="97"/>
                </a:cubicBezTo>
                <a:lnTo>
                  <a:pt x="4" y="145"/>
                </a:lnTo>
                <a:cubicBezTo>
                  <a:pt x="1" y="148"/>
                  <a:pt x="0" y="153"/>
                  <a:pt x="3" y="156"/>
                </a:cubicBezTo>
                <a:cubicBezTo>
                  <a:pt x="5" y="159"/>
                  <a:pt x="10" y="160"/>
                  <a:pt x="14" y="157"/>
                </a:cubicBezTo>
                <a:lnTo>
                  <a:pt x="71" y="110"/>
                </a:lnTo>
                <a:cubicBezTo>
                  <a:pt x="75" y="115"/>
                  <a:pt x="79" y="120"/>
                  <a:pt x="85" y="125"/>
                </a:cubicBezTo>
                <a:cubicBezTo>
                  <a:pt x="92" y="133"/>
                  <a:pt x="99" y="138"/>
                  <a:pt x="104" y="143"/>
                </a:cubicBezTo>
                <a:lnTo>
                  <a:pt x="62" y="189"/>
                </a:lnTo>
                <a:cubicBezTo>
                  <a:pt x="60" y="192"/>
                  <a:pt x="60" y="197"/>
                  <a:pt x="63" y="200"/>
                </a:cubicBezTo>
                <a:cubicBezTo>
                  <a:pt x="66" y="203"/>
                  <a:pt x="71" y="203"/>
                  <a:pt x="74" y="200"/>
                </a:cubicBezTo>
                <a:lnTo>
                  <a:pt x="118" y="151"/>
                </a:lnTo>
                <a:cubicBezTo>
                  <a:pt x="133" y="159"/>
                  <a:pt x="138" y="153"/>
                  <a:pt x="137" y="154"/>
                </a:cubicBezTo>
                <a:lnTo>
                  <a:pt x="181" y="111"/>
                </a:lnTo>
                <a:cubicBezTo>
                  <a:pt x="181" y="111"/>
                  <a:pt x="181" y="110"/>
                  <a:pt x="181" y="110"/>
                </a:cubicBezTo>
                <a:lnTo>
                  <a:pt x="204" y="87"/>
                </a:lnTo>
                <a:cubicBezTo>
                  <a:pt x="204" y="87"/>
                  <a:pt x="205" y="86"/>
                  <a:pt x="205" y="86"/>
                </a:cubicBezTo>
                <a:cubicBezTo>
                  <a:pt x="210" y="78"/>
                  <a:pt x="198" y="56"/>
                  <a:pt x="177" y="34"/>
                </a:cubicBezTo>
                <a:close/>
                <a:moveTo>
                  <a:pt x="197" y="79"/>
                </a:moveTo>
                <a:cubicBezTo>
                  <a:pt x="194" y="83"/>
                  <a:pt x="176" y="72"/>
                  <a:pt x="158" y="54"/>
                </a:cubicBezTo>
                <a:cubicBezTo>
                  <a:pt x="140" y="36"/>
                  <a:pt x="128" y="18"/>
                  <a:pt x="132" y="14"/>
                </a:cubicBezTo>
                <a:cubicBezTo>
                  <a:pt x="136" y="10"/>
                  <a:pt x="154" y="21"/>
                  <a:pt x="172" y="39"/>
                </a:cubicBezTo>
                <a:cubicBezTo>
                  <a:pt x="190" y="57"/>
                  <a:pt x="201" y="75"/>
                  <a:pt x="197" y="79"/>
                </a:cubicBezTo>
                <a:close/>
              </a:path>
            </a:pathLst>
          </a:cu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椭圆 6">
            <a:extLst>
              <a:ext uri="{FF2B5EF4-FFF2-40B4-BE49-F238E27FC236}">
                <a16:creationId xmlns:a16="http://schemas.microsoft.com/office/drawing/2014/main" id="{331C0831-99A8-C308-3F3E-2A223BAA75C2}"/>
              </a:ext>
            </a:extLst>
          </p:cNvPr>
          <p:cNvSpPr/>
          <p:nvPr/>
        </p:nvSpPr>
        <p:spPr>
          <a:xfrm>
            <a:off x="8430552" y="2165179"/>
            <a:ext cx="1206044" cy="1206044"/>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3352385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TC89C52Rc 40I LQFP44引脚的封装和引脚说明_百度知道">
            <a:extLst>
              <a:ext uri="{FF2B5EF4-FFF2-40B4-BE49-F238E27FC236}">
                <a16:creationId xmlns:a16="http://schemas.microsoft.com/office/drawing/2014/main" id="{9DA9D102-3870-8DFC-2D22-B64A12BE38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8949" y="1606966"/>
            <a:ext cx="3457196" cy="3253832"/>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DA597542-C7E7-0AEF-23C9-9E5CC1F96200}"/>
              </a:ext>
            </a:extLst>
          </p:cNvPr>
          <p:cNvSpPr txBox="1"/>
          <p:nvPr/>
        </p:nvSpPr>
        <p:spPr>
          <a:xfrm>
            <a:off x="6107537" y="1237141"/>
            <a:ext cx="1659429" cy="369332"/>
          </a:xfrm>
          <a:prstGeom prst="rect">
            <a:avLst/>
          </a:prstGeom>
          <a:noFill/>
        </p:spPr>
        <p:txBody>
          <a:bodyPr wrap="none" rtlCol="0">
            <a:spAutoFit/>
          </a:bodyPr>
          <a:lstStyle/>
          <a:p>
            <a:r>
              <a:rPr lang="en-US" altLang="zh-CN" dirty="0">
                <a:solidFill>
                  <a:srgbClr val="FF0000"/>
                </a:solidFill>
              </a:rPr>
              <a:t>STC89C52RC</a:t>
            </a:r>
          </a:p>
        </p:txBody>
      </p:sp>
      <p:sp>
        <p:nvSpPr>
          <p:cNvPr id="6" name="矩形 5">
            <a:extLst>
              <a:ext uri="{FF2B5EF4-FFF2-40B4-BE49-F238E27FC236}">
                <a16:creationId xmlns:a16="http://schemas.microsoft.com/office/drawing/2014/main" id="{24C5964B-4CF2-07EA-5327-FF435C66DE0F}"/>
              </a:ext>
            </a:extLst>
          </p:cNvPr>
          <p:cNvSpPr/>
          <p:nvPr/>
        </p:nvSpPr>
        <p:spPr>
          <a:xfrm>
            <a:off x="4883536" y="2873791"/>
            <a:ext cx="695062" cy="151847"/>
          </a:xfrm>
          <a:prstGeom prst="rect">
            <a:avLst/>
          </a:prstGeom>
          <a:noFill/>
          <a:ln w="285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7BA5F21E-1079-0472-8C62-8774488F7023}"/>
              </a:ext>
            </a:extLst>
          </p:cNvPr>
          <p:cNvSpPr/>
          <p:nvPr/>
        </p:nvSpPr>
        <p:spPr>
          <a:xfrm>
            <a:off x="7071904" y="3157712"/>
            <a:ext cx="695062" cy="151847"/>
          </a:xfrm>
          <a:prstGeom prst="rect">
            <a:avLst/>
          </a:prstGeom>
          <a:noFill/>
          <a:ln w="285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26DBD783-A3C6-BBA5-19EB-770A7E047D20}"/>
              </a:ext>
            </a:extLst>
          </p:cNvPr>
          <p:cNvSpPr/>
          <p:nvPr/>
        </p:nvSpPr>
        <p:spPr>
          <a:xfrm>
            <a:off x="1970118" y="262154"/>
            <a:ext cx="3262432" cy="400110"/>
          </a:xfrm>
          <a:prstGeom prst="rect">
            <a:avLst/>
          </a:prstGeom>
          <a:noFill/>
          <a:ln>
            <a:noFill/>
          </a:ln>
        </p:spPr>
        <p:txBody>
          <a:bodyPr wrap="none" rtlCol="0" anchor="t">
            <a:spAutoFit/>
          </a:bodyPr>
          <a:lstStyle/>
          <a:p>
            <a:pPr algn="ctr"/>
            <a:r>
              <a:rPr lang="zh-CN" altLang="en-US" sz="2000" dirty="0">
                <a:solidFill>
                  <a:schemeClr val="tx1"/>
                </a:solidFill>
                <a:effectLst>
                  <a:outerShdw blurRad="38100" dist="19050" dir="2700000" algn="tl" rotWithShape="0">
                    <a:schemeClr val="dk1">
                      <a:alpha val="40000"/>
                    </a:schemeClr>
                  </a:outerShdw>
                </a:effectLst>
              </a:rPr>
              <a:t>单口供电与分区供电的对比</a:t>
            </a:r>
            <a:endParaRPr lang="en-US" altLang="zh-CN" sz="2000" dirty="0">
              <a:solidFill>
                <a:schemeClr val="tx1"/>
              </a:solidFill>
              <a:effectLst>
                <a:outerShdw blurRad="38100" dist="19050" dir="2700000" algn="tl" rotWithShape="0">
                  <a:schemeClr val="dk1">
                    <a:alpha val="40000"/>
                  </a:schemeClr>
                </a:outerShdw>
              </a:effectLst>
            </a:endParaRPr>
          </a:p>
        </p:txBody>
      </p:sp>
      <p:sp>
        <p:nvSpPr>
          <p:cNvPr id="13" name="capacitor_1977">
            <a:extLst>
              <a:ext uri="{FF2B5EF4-FFF2-40B4-BE49-F238E27FC236}">
                <a16:creationId xmlns:a16="http://schemas.microsoft.com/office/drawing/2014/main" id="{6E1C28D1-D793-160E-D223-B2C07BC9C557}"/>
              </a:ext>
            </a:extLst>
          </p:cNvPr>
          <p:cNvSpPr/>
          <p:nvPr/>
        </p:nvSpPr>
        <p:spPr>
          <a:xfrm>
            <a:off x="4583783" y="2395063"/>
            <a:ext cx="607898" cy="586616"/>
          </a:xfrm>
          <a:custGeom>
            <a:avLst/>
            <a:gdLst>
              <a:gd name="T0" fmla="*/ 177 w 210"/>
              <a:gd name="T1" fmla="*/ 34 h 203"/>
              <a:gd name="T2" fmla="*/ 125 w 210"/>
              <a:gd name="T3" fmla="*/ 7 h 203"/>
              <a:gd name="T4" fmla="*/ 124 w 210"/>
              <a:gd name="T5" fmla="*/ 7 h 203"/>
              <a:gd name="T6" fmla="*/ 124 w 210"/>
              <a:gd name="T7" fmla="*/ 7 h 203"/>
              <a:gd name="T8" fmla="*/ 100 w 210"/>
              <a:gd name="T9" fmla="*/ 31 h 203"/>
              <a:gd name="T10" fmla="*/ 100 w 210"/>
              <a:gd name="T11" fmla="*/ 31 h 203"/>
              <a:gd name="T12" fmla="*/ 57 w 210"/>
              <a:gd name="T13" fmla="*/ 75 h 203"/>
              <a:gd name="T14" fmla="*/ 62 w 210"/>
              <a:gd name="T15" fmla="*/ 97 h 203"/>
              <a:gd name="T16" fmla="*/ 4 w 210"/>
              <a:gd name="T17" fmla="*/ 145 h 203"/>
              <a:gd name="T18" fmla="*/ 3 w 210"/>
              <a:gd name="T19" fmla="*/ 156 h 203"/>
              <a:gd name="T20" fmla="*/ 14 w 210"/>
              <a:gd name="T21" fmla="*/ 157 h 203"/>
              <a:gd name="T22" fmla="*/ 71 w 210"/>
              <a:gd name="T23" fmla="*/ 110 h 203"/>
              <a:gd name="T24" fmla="*/ 85 w 210"/>
              <a:gd name="T25" fmla="*/ 125 h 203"/>
              <a:gd name="T26" fmla="*/ 104 w 210"/>
              <a:gd name="T27" fmla="*/ 143 h 203"/>
              <a:gd name="T28" fmla="*/ 62 w 210"/>
              <a:gd name="T29" fmla="*/ 189 h 203"/>
              <a:gd name="T30" fmla="*/ 63 w 210"/>
              <a:gd name="T31" fmla="*/ 200 h 203"/>
              <a:gd name="T32" fmla="*/ 74 w 210"/>
              <a:gd name="T33" fmla="*/ 200 h 203"/>
              <a:gd name="T34" fmla="*/ 118 w 210"/>
              <a:gd name="T35" fmla="*/ 151 h 203"/>
              <a:gd name="T36" fmla="*/ 137 w 210"/>
              <a:gd name="T37" fmla="*/ 154 h 203"/>
              <a:gd name="T38" fmla="*/ 181 w 210"/>
              <a:gd name="T39" fmla="*/ 111 h 203"/>
              <a:gd name="T40" fmla="*/ 181 w 210"/>
              <a:gd name="T41" fmla="*/ 110 h 203"/>
              <a:gd name="T42" fmla="*/ 204 w 210"/>
              <a:gd name="T43" fmla="*/ 87 h 203"/>
              <a:gd name="T44" fmla="*/ 205 w 210"/>
              <a:gd name="T45" fmla="*/ 86 h 203"/>
              <a:gd name="T46" fmla="*/ 177 w 210"/>
              <a:gd name="T47" fmla="*/ 34 h 203"/>
              <a:gd name="T48" fmla="*/ 197 w 210"/>
              <a:gd name="T49" fmla="*/ 79 h 203"/>
              <a:gd name="T50" fmla="*/ 158 w 210"/>
              <a:gd name="T51" fmla="*/ 54 h 203"/>
              <a:gd name="T52" fmla="*/ 132 w 210"/>
              <a:gd name="T53" fmla="*/ 14 h 203"/>
              <a:gd name="T54" fmla="*/ 172 w 210"/>
              <a:gd name="T55" fmla="*/ 39 h 203"/>
              <a:gd name="T56" fmla="*/ 197 w 210"/>
              <a:gd name="T57" fmla="*/ 79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0" h="203">
                <a:moveTo>
                  <a:pt x="177" y="34"/>
                </a:moveTo>
                <a:cubicBezTo>
                  <a:pt x="155" y="12"/>
                  <a:pt x="131" y="0"/>
                  <a:pt x="125" y="7"/>
                </a:cubicBezTo>
                <a:cubicBezTo>
                  <a:pt x="124" y="7"/>
                  <a:pt x="124" y="7"/>
                  <a:pt x="124" y="7"/>
                </a:cubicBezTo>
                <a:cubicBezTo>
                  <a:pt x="124" y="7"/>
                  <a:pt x="124" y="7"/>
                  <a:pt x="124" y="7"/>
                </a:cubicBezTo>
                <a:lnTo>
                  <a:pt x="100" y="31"/>
                </a:lnTo>
                <a:lnTo>
                  <a:pt x="100" y="31"/>
                </a:lnTo>
                <a:lnTo>
                  <a:pt x="57" y="75"/>
                </a:lnTo>
                <a:cubicBezTo>
                  <a:pt x="57" y="75"/>
                  <a:pt x="52" y="81"/>
                  <a:pt x="62" y="97"/>
                </a:cubicBezTo>
                <a:lnTo>
                  <a:pt x="4" y="145"/>
                </a:lnTo>
                <a:cubicBezTo>
                  <a:pt x="1" y="148"/>
                  <a:pt x="0" y="153"/>
                  <a:pt x="3" y="156"/>
                </a:cubicBezTo>
                <a:cubicBezTo>
                  <a:pt x="5" y="159"/>
                  <a:pt x="10" y="160"/>
                  <a:pt x="14" y="157"/>
                </a:cubicBezTo>
                <a:lnTo>
                  <a:pt x="71" y="110"/>
                </a:lnTo>
                <a:cubicBezTo>
                  <a:pt x="75" y="115"/>
                  <a:pt x="79" y="120"/>
                  <a:pt x="85" y="125"/>
                </a:cubicBezTo>
                <a:cubicBezTo>
                  <a:pt x="92" y="133"/>
                  <a:pt x="99" y="138"/>
                  <a:pt x="104" y="143"/>
                </a:cubicBezTo>
                <a:lnTo>
                  <a:pt x="62" y="189"/>
                </a:lnTo>
                <a:cubicBezTo>
                  <a:pt x="60" y="192"/>
                  <a:pt x="60" y="197"/>
                  <a:pt x="63" y="200"/>
                </a:cubicBezTo>
                <a:cubicBezTo>
                  <a:pt x="66" y="203"/>
                  <a:pt x="71" y="203"/>
                  <a:pt x="74" y="200"/>
                </a:cubicBezTo>
                <a:lnTo>
                  <a:pt x="118" y="151"/>
                </a:lnTo>
                <a:cubicBezTo>
                  <a:pt x="133" y="159"/>
                  <a:pt x="138" y="153"/>
                  <a:pt x="137" y="154"/>
                </a:cubicBezTo>
                <a:lnTo>
                  <a:pt x="181" y="111"/>
                </a:lnTo>
                <a:cubicBezTo>
                  <a:pt x="181" y="111"/>
                  <a:pt x="181" y="110"/>
                  <a:pt x="181" y="110"/>
                </a:cubicBezTo>
                <a:lnTo>
                  <a:pt x="204" y="87"/>
                </a:lnTo>
                <a:cubicBezTo>
                  <a:pt x="204" y="87"/>
                  <a:pt x="205" y="86"/>
                  <a:pt x="205" y="86"/>
                </a:cubicBezTo>
                <a:cubicBezTo>
                  <a:pt x="210" y="78"/>
                  <a:pt x="198" y="56"/>
                  <a:pt x="177" y="34"/>
                </a:cubicBezTo>
                <a:close/>
                <a:moveTo>
                  <a:pt x="197" y="79"/>
                </a:moveTo>
                <a:cubicBezTo>
                  <a:pt x="194" y="83"/>
                  <a:pt x="176" y="72"/>
                  <a:pt x="158" y="54"/>
                </a:cubicBezTo>
                <a:cubicBezTo>
                  <a:pt x="140" y="36"/>
                  <a:pt x="128" y="18"/>
                  <a:pt x="132" y="14"/>
                </a:cubicBezTo>
                <a:cubicBezTo>
                  <a:pt x="136" y="10"/>
                  <a:pt x="154" y="21"/>
                  <a:pt x="172" y="39"/>
                </a:cubicBezTo>
                <a:cubicBezTo>
                  <a:pt x="190" y="57"/>
                  <a:pt x="201" y="75"/>
                  <a:pt x="197" y="79"/>
                </a:cubicBezTo>
                <a:close/>
              </a:path>
            </a:pathLst>
          </a:cu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 name="椭圆 13">
            <a:extLst>
              <a:ext uri="{FF2B5EF4-FFF2-40B4-BE49-F238E27FC236}">
                <a16:creationId xmlns:a16="http://schemas.microsoft.com/office/drawing/2014/main" id="{24D2BBE3-46C7-A68C-208A-F1E2852FDCCD}"/>
              </a:ext>
            </a:extLst>
          </p:cNvPr>
          <p:cNvSpPr/>
          <p:nvPr/>
        </p:nvSpPr>
        <p:spPr>
          <a:xfrm>
            <a:off x="3188679" y="876348"/>
            <a:ext cx="3624046" cy="3624046"/>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9C9D9B80-5968-094B-29C9-7A36B47E50C1}"/>
              </a:ext>
            </a:extLst>
          </p:cNvPr>
          <p:cNvSpPr txBox="1"/>
          <p:nvPr/>
        </p:nvSpPr>
        <p:spPr>
          <a:xfrm>
            <a:off x="1650204" y="4865739"/>
            <a:ext cx="9291639" cy="1308179"/>
          </a:xfrm>
          <a:prstGeom prst="rect">
            <a:avLst/>
          </a:prstGeom>
          <a:noFill/>
        </p:spPr>
        <p:txBody>
          <a:bodyPr wrap="square" rtlCol="0">
            <a:spAutoFit/>
          </a:bodyPr>
          <a:lstStyle/>
          <a:p>
            <a:pPr algn="ctr">
              <a:lnSpc>
                <a:spcPct val="150000"/>
              </a:lnSpc>
            </a:pPr>
            <a:r>
              <a:rPr lang="zh-CN" altLang="en-US" sz="2800" dirty="0"/>
              <a:t>对于单口供电来说，电容可能因为滤波半径的因素无法让单片机内的所有模块都能获得稳定的电源</a:t>
            </a:r>
            <a:endParaRPr lang="en-US" altLang="zh-CN" dirty="0">
              <a:solidFill>
                <a:schemeClr val="accent2"/>
              </a:solidFill>
            </a:endParaRPr>
          </a:p>
        </p:txBody>
      </p:sp>
    </p:spTree>
    <p:extLst>
      <p:ext uri="{BB962C8B-B14F-4D97-AF65-F5344CB8AC3E}">
        <p14:creationId xmlns:p14="http://schemas.microsoft.com/office/powerpoint/2010/main" val="3689640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9FF08-B617-D601-D369-823AB27989CB}"/>
            </a:ext>
          </a:extLst>
        </p:cNvPr>
        <p:cNvGrpSpPr/>
        <p:nvPr/>
      </p:nvGrpSpPr>
      <p:grpSpPr>
        <a:xfrm>
          <a:off x="0" y="0"/>
          <a:ext cx="0" cy="0"/>
          <a:chOff x="0" y="0"/>
          <a:chExt cx="0" cy="0"/>
        </a:xfrm>
      </p:grpSpPr>
      <p:grpSp>
        <p:nvGrpSpPr>
          <p:cNvPr id="24" name="组合 23">
            <a:extLst>
              <a:ext uri="{FF2B5EF4-FFF2-40B4-BE49-F238E27FC236}">
                <a16:creationId xmlns:a16="http://schemas.microsoft.com/office/drawing/2014/main" id="{5994C9CD-2B92-0152-68A1-83F7D916CA2A}"/>
              </a:ext>
            </a:extLst>
          </p:cNvPr>
          <p:cNvGrpSpPr/>
          <p:nvPr/>
        </p:nvGrpSpPr>
        <p:grpSpPr>
          <a:xfrm>
            <a:off x="912475" y="895810"/>
            <a:ext cx="5502613" cy="5186452"/>
            <a:chOff x="2562680" y="124284"/>
            <a:chExt cx="6930777" cy="6532559"/>
          </a:xfrm>
        </p:grpSpPr>
        <p:pic>
          <p:nvPicPr>
            <p:cNvPr id="2" name="Picture 4" descr="STM32F103C8T6封装引脚图_stm32f103c8t6封装图-CSDN博客">
              <a:extLst>
                <a:ext uri="{FF2B5EF4-FFF2-40B4-BE49-F238E27FC236}">
                  <a16:creationId xmlns:a16="http://schemas.microsoft.com/office/drawing/2014/main" id="{A407F031-35BA-F255-468B-356FBA23C3C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09689" y="2006348"/>
              <a:ext cx="4715395" cy="3588252"/>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E312EBAA-AB15-95A3-70EE-9C6F95CA3857}"/>
                </a:ext>
              </a:extLst>
            </p:cNvPr>
            <p:cNvSpPr txBox="1"/>
            <p:nvPr/>
          </p:nvSpPr>
          <p:spPr>
            <a:xfrm>
              <a:off x="5767386" y="1722337"/>
              <a:ext cx="2018501" cy="369332"/>
            </a:xfrm>
            <a:prstGeom prst="rect">
              <a:avLst/>
            </a:prstGeom>
            <a:noFill/>
          </p:spPr>
          <p:txBody>
            <a:bodyPr wrap="none" rtlCol="0">
              <a:spAutoFit/>
            </a:bodyPr>
            <a:lstStyle/>
            <a:p>
              <a:r>
                <a:rPr lang="en-US" altLang="zh-CN" dirty="0">
                  <a:solidFill>
                    <a:srgbClr val="FF0000"/>
                  </a:solidFill>
                </a:rPr>
                <a:t>STM32F103C8T6</a:t>
              </a:r>
            </a:p>
          </p:txBody>
        </p:sp>
        <p:sp>
          <p:nvSpPr>
            <p:cNvPr id="8" name="矩形 7">
              <a:extLst>
                <a:ext uri="{FF2B5EF4-FFF2-40B4-BE49-F238E27FC236}">
                  <a16:creationId xmlns:a16="http://schemas.microsoft.com/office/drawing/2014/main" id="{FB7D3B9B-0EBA-F873-4EAA-68D0F1C49EDE}"/>
                </a:ext>
              </a:extLst>
            </p:cNvPr>
            <p:cNvSpPr/>
            <p:nvPr/>
          </p:nvSpPr>
          <p:spPr>
            <a:xfrm>
              <a:off x="5093494" y="1885571"/>
              <a:ext cx="350044" cy="979071"/>
            </a:xfrm>
            <a:prstGeom prst="rect">
              <a:avLst/>
            </a:prstGeom>
            <a:noFill/>
            <a:ln w="285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7C319A97-5390-4C8A-7F06-FC5EF1ED80E7}"/>
                </a:ext>
              </a:extLst>
            </p:cNvPr>
            <p:cNvSpPr/>
            <p:nvPr/>
          </p:nvSpPr>
          <p:spPr>
            <a:xfrm>
              <a:off x="6676225" y="4714875"/>
              <a:ext cx="350044" cy="879726"/>
            </a:xfrm>
            <a:prstGeom prst="rect">
              <a:avLst/>
            </a:prstGeom>
            <a:noFill/>
            <a:ln w="285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1A61EF0F-C31B-02F2-3826-0EB66AE2AB00}"/>
                </a:ext>
              </a:extLst>
            </p:cNvPr>
            <p:cNvSpPr/>
            <p:nvPr/>
          </p:nvSpPr>
          <p:spPr>
            <a:xfrm>
              <a:off x="6988041" y="2800349"/>
              <a:ext cx="884372" cy="331371"/>
            </a:xfrm>
            <a:prstGeom prst="rect">
              <a:avLst/>
            </a:prstGeom>
            <a:noFill/>
            <a:ln w="285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D4AC5BA1-FFA0-7667-1155-19EC6676CF5E}"/>
                </a:ext>
              </a:extLst>
            </p:cNvPr>
            <p:cNvSpPr/>
            <p:nvPr/>
          </p:nvSpPr>
          <p:spPr>
            <a:xfrm>
              <a:off x="4364830" y="3936205"/>
              <a:ext cx="714375" cy="350043"/>
            </a:xfrm>
            <a:prstGeom prst="rect">
              <a:avLst/>
            </a:prstGeom>
            <a:noFill/>
            <a:ln w="285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5" name="capacitor_1977">
              <a:extLst>
                <a:ext uri="{FF2B5EF4-FFF2-40B4-BE49-F238E27FC236}">
                  <a16:creationId xmlns:a16="http://schemas.microsoft.com/office/drawing/2014/main" id="{AE7C8C3C-643C-EB87-E5F5-0AB8C98668E5}"/>
                </a:ext>
              </a:extLst>
            </p:cNvPr>
            <p:cNvSpPr/>
            <p:nvPr/>
          </p:nvSpPr>
          <p:spPr>
            <a:xfrm>
              <a:off x="3957784" y="3699632"/>
              <a:ext cx="607898" cy="586616"/>
            </a:xfrm>
            <a:custGeom>
              <a:avLst/>
              <a:gdLst>
                <a:gd name="T0" fmla="*/ 177 w 210"/>
                <a:gd name="T1" fmla="*/ 34 h 203"/>
                <a:gd name="T2" fmla="*/ 125 w 210"/>
                <a:gd name="T3" fmla="*/ 7 h 203"/>
                <a:gd name="T4" fmla="*/ 124 w 210"/>
                <a:gd name="T5" fmla="*/ 7 h 203"/>
                <a:gd name="T6" fmla="*/ 124 w 210"/>
                <a:gd name="T7" fmla="*/ 7 h 203"/>
                <a:gd name="T8" fmla="*/ 100 w 210"/>
                <a:gd name="T9" fmla="*/ 31 h 203"/>
                <a:gd name="T10" fmla="*/ 100 w 210"/>
                <a:gd name="T11" fmla="*/ 31 h 203"/>
                <a:gd name="T12" fmla="*/ 57 w 210"/>
                <a:gd name="T13" fmla="*/ 75 h 203"/>
                <a:gd name="T14" fmla="*/ 62 w 210"/>
                <a:gd name="T15" fmla="*/ 97 h 203"/>
                <a:gd name="T16" fmla="*/ 4 w 210"/>
                <a:gd name="T17" fmla="*/ 145 h 203"/>
                <a:gd name="T18" fmla="*/ 3 w 210"/>
                <a:gd name="T19" fmla="*/ 156 h 203"/>
                <a:gd name="T20" fmla="*/ 14 w 210"/>
                <a:gd name="T21" fmla="*/ 157 h 203"/>
                <a:gd name="T22" fmla="*/ 71 w 210"/>
                <a:gd name="T23" fmla="*/ 110 h 203"/>
                <a:gd name="T24" fmla="*/ 85 w 210"/>
                <a:gd name="T25" fmla="*/ 125 h 203"/>
                <a:gd name="T26" fmla="*/ 104 w 210"/>
                <a:gd name="T27" fmla="*/ 143 h 203"/>
                <a:gd name="T28" fmla="*/ 62 w 210"/>
                <a:gd name="T29" fmla="*/ 189 h 203"/>
                <a:gd name="T30" fmla="*/ 63 w 210"/>
                <a:gd name="T31" fmla="*/ 200 h 203"/>
                <a:gd name="T32" fmla="*/ 74 w 210"/>
                <a:gd name="T33" fmla="*/ 200 h 203"/>
                <a:gd name="T34" fmla="*/ 118 w 210"/>
                <a:gd name="T35" fmla="*/ 151 h 203"/>
                <a:gd name="T36" fmla="*/ 137 w 210"/>
                <a:gd name="T37" fmla="*/ 154 h 203"/>
                <a:gd name="T38" fmla="*/ 181 w 210"/>
                <a:gd name="T39" fmla="*/ 111 h 203"/>
                <a:gd name="T40" fmla="*/ 181 w 210"/>
                <a:gd name="T41" fmla="*/ 110 h 203"/>
                <a:gd name="T42" fmla="*/ 204 w 210"/>
                <a:gd name="T43" fmla="*/ 87 h 203"/>
                <a:gd name="T44" fmla="*/ 205 w 210"/>
                <a:gd name="T45" fmla="*/ 86 h 203"/>
                <a:gd name="T46" fmla="*/ 177 w 210"/>
                <a:gd name="T47" fmla="*/ 34 h 203"/>
                <a:gd name="T48" fmla="*/ 197 w 210"/>
                <a:gd name="T49" fmla="*/ 79 h 203"/>
                <a:gd name="T50" fmla="*/ 158 w 210"/>
                <a:gd name="T51" fmla="*/ 54 h 203"/>
                <a:gd name="T52" fmla="*/ 132 w 210"/>
                <a:gd name="T53" fmla="*/ 14 h 203"/>
                <a:gd name="T54" fmla="*/ 172 w 210"/>
                <a:gd name="T55" fmla="*/ 39 h 203"/>
                <a:gd name="T56" fmla="*/ 197 w 210"/>
                <a:gd name="T57" fmla="*/ 79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0" h="203">
                  <a:moveTo>
                    <a:pt x="177" y="34"/>
                  </a:moveTo>
                  <a:cubicBezTo>
                    <a:pt x="155" y="12"/>
                    <a:pt x="131" y="0"/>
                    <a:pt x="125" y="7"/>
                  </a:cubicBezTo>
                  <a:cubicBezTo>
                    <a:pt x="124" y="7"/>
                    <a:pt x="124" y="7"/>
                    <a:pt x="124" y="7"/>
                  </a:cubicBezTo>
                  <a:cubicBezTo>
                    <a:pt x="124" y="7"/>
                    <a:pt x="124" y="7"/>
                    <a:pt x="124" y="7"/>
                  </a:cubicBezTo>
                  <a:lnTo>
                    <a:pt x="100" y="31"/>
                  </a:lnTo>
                  <a:lnTo>
                    <a:pt x="100" y="31"/>
                  </a:lnTo>
                  <a:lnTo>
                    <a:pt x="57" y="75"/>
                  </a:lnTo>
                  <a:cubicBezTo>
                    <a:pt x="57" y="75"/>
                    <a:pt x="52" y="81"/>
                    <a:pt x="62" y="97"/>
                  </a:cubicBezTo>
                  <a:lnTo>
                    <a:pt x="4" y="145"/>
                  </a:lnTo>
                  <a:cubicBezTo>
                    <a:pt x="1" y="148"/>
                    <a:pt x="0" y="153"/>
                    <a:pt x="3" y="156"/>
                  </a:cubicBezTo>
                  <a:cubicBezTo>
                    <a:pt x="5" y="159"/>
                    <a:pt x="10" y="160"/>
                    <a:pt x="14" y="157"/>
                  </a:cubicBezTo>
                  <a:lnTo>
                    <a:pt x="71" y="110"/>
                  </a:lnTo>
                  <a:cubicBezTo>
                    <a:pt x="75" y="115"/>
                    <a:pt x="79" y="120"/>
                    <a:pt x="85" y="125"/>
                  </a:cubicBezTo>
                  <a:cubicBezTo>
                    <a:pt x="92" y="133"/>
                    <a:pt x="99" y="138"/>
                    <a:pt x="104" y="143"/>
                  </a:cubicBezTo>
                  <a:lnTo>
                    <a:pt x="62" y="189"/>
                  </a:lnTo>
                  <a:cubicBezTo>
                    <a:pt x="60" y="192"/>
                    <a:pt x="60" y="197"/>
                    <a:pt x="63" y="200"/>
                  </a:cubicBezTo>
                  <a:cubicBezTo>
                    <a:pt x="66" y="203"/>
                    <a:pt x="71" y="203"/>
                    <a:pt x="74" y="200"/>
                  </a:cubicBezTo>
                  <a:lnTo>
                    <a:pt x="118" y="151"/>
                  </a:lnTo>
                  <a:cubicBezTo>
                    <a:pt x="133" y="159"/>
                    <a:pt x="138" y="153"/>
                    <a:pt x="137" y="154"/>
                  </a:cubicBezTo>
                  <a:lnTo>
                    <a:pt x="181" y="111"/>
                  </a:lnTo>
                  <a:cubicBezTo>
                    <a:pt x="181" y="111"/>
                    <a:pt x="181" y="110"/>
                    <a:pt x="181" y="110"/>
                  </a:cubicBezTo>
                  <a:lnTo>
                    <a:pt x="204" y="87"/>
                  </a:lnTo>
                  <a:cubicBezTo>
                    <a:pt x="204" y="87"/>
                    <a:pt x="205" y="86"/>
                    <a:pt x="205" y="86"/>
                  </a:cubicBezTo>
                  <a:cubicBezTo>
                    <a:pt x="210" y="78"/>
                    <a:pt x="198" y="56"/>
                    <a:pt x="177" y="34"/>
                  </a:cubicBezTo>
                  <a:close/>
                  <a:moveTo>
                    <a:pt x="197" y="79"/>
                  </a:moveTo>
                  <a:cubicBezTo>
                    <a:pt x="194" y="83"/>
                    <a:pt x="176" y="72"/>
                    <a:pt x="158" y="54"/>
                  </a:cubicBezTo>
                  <a:cubicBezTo>
                    <a:pt x="140" y="36"/>
                    <a:pt x="128" y="18"/>
                    <a:pt x="132" y="14"/>
                  </a:cubicBezTo>
                  <a:cubicBezTo>
                    <a:pt x="136" y="10"/>
                    <a:pt x="154" y="21"/>
                    <a:pt x="172" y="39"/>
                  </a:cubicBezTo>
                  <a:cubicBezTo>
                    <a:pt x="190" y="57"/>
                    <a:pt x="201" y="75"/>
                    <a:pt x="197" y="79"/>
                  </a:cubicBezTo>
                  <a:close/>
                </a:path>
              </a:pathLst>
            </a:cu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6" name="椭圆 15">
              <a:extLst>
                <a:ext uri="{FF2B5EF4-FFF2-40B4-BE49-F238E27FC236}">
                  <a16:creationId xmlns:a16="http://schemas.microsoft.com/office/drawing/2014/main" id="{B88B0881-8E20-34D5-5515-5E9E278DDC7E}"/>
                </a:ext>
              </a:extLst>
            </p:cNvPr>
            <p:cNvSpPr/>
            <p:nvPr/>
          </p:nvSpPr>
          <p:spPr>
            <a:xfrm>
              <a:off x="2562680" y="2180917"/>
              <a:ext cx="3624046" cy="3624046"/>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apacitor_1977">
              <a:extLst>
                <a:ext uri="{FF2B5EF4-FFF2-40B4-BE49-F238E27FC236}">
                  <a16:creationId xmlns:a16="http://schemas.microsoft.com/office/drawing/2014/main" id="{AC937135-CB1A-0B8A-B756-2EA508DEAAC0}"/>
                </a:ext>
              </a:extLst>
            </p:cNvPr>
            <p:cNvSpPr/>
            <p:nvPr/>
          </p:nvSpPr>
          <p:spPr>
            <a:xfrm>
              <a:off x="5159488" y="1642999"/>
              <a:ext cx="607898" cy="586616"/>
            </a:xfrm>
            <a:custGeom>
              <a:avLst/>
              <a:gdLst>
                <a:gd name="T0" fmla="*/ 177 w 210"/>
                <a:gd name="T1" fmla="*/ 34 h 203"/>
                <a:gd name="T2" fmla="*/ 125 w 210"/>
                <a:gd name="T3" fmla="*/ 7 h 203"/>
                <a:gd name="T4" fmla="*/ 124 w 210"/>
                <a:gd name="T5" fmla="*/ 7 h 203"/>
                <a:gd name="T6" fmla="*/ 124 w 210"/>
                <a:gd name="T7" fmla="*/ 7 h 203"/>
                <a:gd name="T8" fmla="*/ 100 w 210"/>
                <a:gd name="T9" fmla="*/ 31 h 203"/>
                <a:gd name="T10" fmla="*/ 100 w 210"/>
                <a:gd name="T11" fmla="*/ 31 h 203"/>
                <a:gd name="T12" fmla="*/ 57 w 210"/>
                <a:gd name="T13" fmla="*/ 75 h 203"/>
                <a:gd name="T14" fmla="*/ 62 w 210"/>
                <a:gd name="T15" fmla="*/ 97 h 203"/>
                <a:gd name="T16" fmla="*/ 4 w 210"/>
                <a:gd name="T17" fmla="*/ 145 h 203"/>
                <a:gd name="T18" fmla="*/ 3 w 210"/>
                <a:gd name="T19" fmla="*/ 156 h 203"/>
                <a:gd name="T20" fmla="*/ 14 w 210"/>
                <a:gd name="T21" fmla="*/ 157 h 203"/>
                <a:gd name="T22" fmla="*/ 71 w 210"/>
                <a:gd name="T23" fmla="*/ 110 h 203"/>
                <a:gd name="T24" fmla="*/ 85 w 210"/>
                <a:gd name="T25" fmla="*/ 125 h 203"/>
                <a:gd name="T26" fmla="*/ 104 w 210"/>
                <a:gd name="T27" fmla="*/ 143 h 203"/>
                <a:gd name="T28" fmla="*/ 62 w 210"/>
                <a:gd name="T29" fmla="*/ 189 h 203"/>
                <a:gd name="T30" fmla="*/ 63 w 210"/>
                <a:gd name="T31" fmla="*/ 200 h 203"/>
                <a:gd name="T32" fmla="*/ 74 w 210"/>
                <a:gd name="T33" fmla="*/ 200 h 203"/>
                <a:gd name="T34" fmla="*/ 118 w 210"/>
                <a:gd name="T35" fmla="*/ 151 h 203"/>
                <a:gd name="T36" fmla="*/ 137 w 210"/>
                <a:gd name="T37" fmla="*/ 154 h 203"/>
                <a:gd name="T38" fmla="*/ 181 w 210"/>
                <a:gd name="T39" fmla="*/ 111 h 203"/>
                <a:gd name="T40" fmla="*/ 181 w 210"/>
                <a:gd name="T41" fmla="*/ 110 h 203"/>
                <a:gd name="T42" fmla="*/ 204 w 210"/>
                <a:gd name="T43" fmla="*/ 87 h 203"/>
                <a:gd name="T44" fmla="*/ 205 w 210"/>
                <a:gd name="T45" fmla="*/ 86 h 203"/>
                <a:gd name="T46" fmla="*/ 177 w 210"/>
                <a:gd name="T47" fmla="*/ 34 h 203"/>
                <a:gd name="T48" fmla="*/ 197 w 210"/>
                <a:gd name="T49" fmla="*/ 79 h 203"/>
                <a:gd name="T50" fmla="*/ 158 w 210"/>
                <a:gd name="T51" fmla="*/ 54 h 203"/>
                <a:gd name="T52" fmla="*/ 132 w 210"/>
                <a:gd name="T53" fmla="*/ 14 h 203"/>
                <a:gd name="T54" fmla="*/ 172 w 210"/>
                <a:gd name="T55" fmla="*/ 39 h 203"/>
                <a:gd name="T56" fmla="*/ 197 w 210"/>
                <a:gd name="T57" fmla="*/ 79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0" h="203">
                  <a:moveTo>
                    <a:pt x="177" y="34"/>
                  </a:moveTo>
                  <a:cubicBezTo>
                    <a:pt x="155" y="12"/>
                    <a:pt x="131" y="0"/>
                    <a:pt x="125" y="7"/>
                  </a:cubicBezTo>
                  <a:cubicBezTo>
                    <a:pt x="124" y="7"/>
                    <a:pt x="124" y="7"/>
                    <a:pt x="124" y="7"/>
                  </a:cubicBezTo>
                  <a:cubicBezTo>
                    <a:pt x="124" y="7"/>
                    <a:pt x="124" y="7"/>
                    <a:pt x="124" y="7"/>
                  </a:cubicBezTo>
                  <a:lnTo>
                    <a:pt x="100" y="31"/>
                  </a:lnTo>
                  <a:lnTo>
                    <a:pt x="100" y="31"/>
                  </a:lnTo>
                  <a:lnTo>
                    <a:pt x="57" y="75"/>
                  </a:lnTo>
                  <a:cubicBezTo>
                    <a:pt x="57" y="75"/>
                    <a:pt x="52" y="81"/>
                    <a:pt x="62" y="97"/>
                  </a:cubicBezTo>
                  <a:lnTo>
                    <a:pt x="4" y="145"/>
                  </a:lnTo>
                  <a:cubicBezTo>
                    <a:pt x="1" y="148"/>
                    <a:pt x="0" y="153"/>
                    <a:pt x="3" y="156"/>
                  </a:cubicBezTo>
                  <a:cubicBezTo>
                    <a:pt x="5" y="159"/>
                    <a:pt x="10" y="160"/>
                    <a:pt x="14" y="157"/>
                  </a:cubicBezTo>
                  <a:lnTo>
                    <a:pt x="71" y="110"/>
                  </a:lnTo>
                  <a:cubicBezTo>
                    <a:pt x="75" y="115"/>
                    <a:pt x="79" y="120"/>
                    <a:pt x="85" y="125"/>
                  </a:cubicBezTo>
                  <a:cubicBezTo>
                    <a:pt x="92" y="133"/>
                    <a:pt x="99" y="138"/>
                    <a:pt x="104" y="143"/>
                  </a:cubicBezTo>
                  <a:lnTo>
                    <a:pt x="62" y="189"/>
                  </a:lnTo>
                  <a:cubicBezTo>
                    <a:pt x="60" y="192"/>
                    <a:pt x="60" y="197"/>
                    <a:pt x="63" y="200"/>
                  </a:cubicBezTo>
                  <a:cubicBezTo>
                    <a:pt x="66" y="203"/>
                    <a:pt x="71" y="203"/>
                    <a:pt x="74" y="200"/>
                  </a:cubicBezTo>
                  <a:lnTo>
                    <a:pt x="118" y="151"/>
                  </a:lnTo>
                  <a:cubicBezTo>
                    <a:pt x="133" y="159"/>
                    <a:pt x="138" y="153"/>
                    <a:pt x="137" y="154"/>
                  </a:cubicBezTo>
                  <a:lnTo>
                    <a:pt x="181" y="111"/>
                  </a:lnTo>
                  <a:cubicBezTo>
                    <a:pt x="181" y="111"/>
                    <a:pt x="181" y="110"/>
                    <a:pt x="181" y="110"/>
                  </a:cubicBezTo>
                  <a:lnTo>
                    <a:pt x="204" y="87"/>
                  </a:lnTo>
                  <a:cubicBezTo>
                    <a:pt x="204" y="87"/>
                    <a:pt x="205" y="86"/>
                    <a:pt x="205" y="86"/>
                  </a:cubicBezTo>
                  <a:cubicBezTo>
                    <a:pt x="210" y="78"/>
                    <a:pt x="198" y="56"/>
                    <a:pt x="177" y="34"/>
                  </a:cubicBezTo>
                  <a:close/>
                  <a:moveTo>
                    <a:pt x="197" y="79"/>
                  </a:moveTo>
                  <a:cubicBezTo>
                    <a:pt x="194" y="83"/>
                    <a:pt x="176" y="72"/>
                    <a:pt x="158" y="54"/>
                  </a:cubicBezTo>
                  <a:cubicBezTo>
                    <a:pt x="140" y="36"/>
                    <a:pt x="128" y="18"/>
                    <a:pt x="132" y="14"/>
                  </a:cubicBezTo>
                  <a:cubicBezTo>
                    <a:pt x="136" y="10"/>
                    <a:pt x="154" y="21"/>
                    <a:pt x="172" y="39"/>
                  </a:cubicBezTo>
                  <a:cubicBezTo>
                    <a:pt x="190" y="57"/>
                    <a:pt x="201" y="75"/>
                    <a:pt x="197" y="79"/>
                  </a:cubicBezTo>
                  <a:close/>
                </a:path>
              </a:pathLst>
            </a:cu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8" name="椭圆 17">
              <a:extLst>
                <a:ext uri="{FF2B5EF4-FFF2-40B4-BE49-F238E27FC236}">
                  <a16:creationId xmlns:a16="http://schemas.microsoft.com/office/drawing/2014/main" id="{291D2DE0-7966-A2BC-59B8-7C9D3E099FBC}"/>
                </a:ext>
              </a:extLst>
            </p:cNvPr>
            <p:cNvSpPr/>
            <p:nvPr/>
          </p:nvSpPr>
          <p:spPr>
            <a:xfrm>
              <a:off x="3764384" y="124284"/>
              <a:ext cx="3624046" cy="3624046"/>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capacitor_1977">
              <a:extLst>
                <a:ext uri="{FF2B5EF4-FFF2-40B4-BE49-F238E27FC236}">
                  <a16:creationId xmlns:a16="http://schemas.microsoft.com/office/drawing/2014/main" id="{4A4355AE-4DAE-B615-9620-90B7BD126DCB}"/>
                </a:ext>
              </a:extLst>
            </p:cNvPr>
            <p:cNvSpPr/>
            <p:nvPr/>
          </p:nvSpPr>
          <p:spPr>
            <a:xfrm>
              <a:off x="7264515" y="2564920"/>
              <a:ext cx="607898" cy="586616"/>
            </a:xfrm>
            <a:custGeom>
              <a:avLst/>
              <a:gdLst>
                <a:gd name="T0" fmla="*/ 177 w 210"/>
                <a:gd name="T1" fmla="*/ 34 h 203"/>
                <a:gd name="T2" fmla="*/ 125 w 210"/>
                <a:gd name="T3" fmla="*/ 7 h 203"/>
                <a:gd name="T4" fmla="*/ 124 w 210"/>
                <a:gd name="T5" fmla="*/ 7 h 203"/>
                <a:gd name="T6" fmla="*/ 124 w 210"/>
                <a:gd name="T7" fmla="*/ 7 h 203"/>
                <a:gd name="T8" fmla="*/ 100 w 210"/>
                <a:gd name="T9" fmla="*/ 31 h 203"/>
                <a:gd name="T10" fmla="*/ 100 w 210"/>
                <a:gd name="T11" fmla="*/ 31 h 203"/>
                <a:gd name="T12" fmla="*/ 57 w 210"/>
                <a:gd name="T13" fmla="*/ 75 h 203"/>
                <a:gd name="T14" fmla="*/ 62 w 210"/>
                <a:gd name="T15" fmla="*/ 97 h 203"/>
                <a:gd name="T16" fmla="*/ 4 w 210"/>
                <a:gd name="T17" fmla="*/ 145 h 203"/>
                <a:gd name="T18" fmla="*/ 3 w 210"/>
                <a:gd name="T19" fmla="*/ 156 h 203"/>
                <a:gd name="T20" fmla="*/ 14 w 210"/>
                <a:gd name="T21" fmla="*/ 157 h 203"/>
                <a:gd name="T22" fmla="*/ 71 w 210"/>
                <a:gd name="T23" fmla="*/ 110 h 203"/>
                <a:gd name="T24" fmla="*/ 85 w 210"/>
                <a:gd name="T25" fmla="*/ 125 h 203"/>
                <a:gd name="T26" fmla="*/ 104 w 210"/>
                <a:gd name="T27" fmla="*/ 143 h 203"/>
                <a:gd name="T28" fmla="*/ 62 w 210"/>
                <a:gd name="T29" fmla="*/ 189 h 203"/>
                <a:gd name="T30" fmla="*/ 63 w 210"/>
                <a:gd name="T31" fmla="*/ 200 h 203"/>
                <a:gd name="T32" fmla="*/ 74 w 210"/>
                <a:gd name="T33" fmla="*/ 200 h 203"/>
                <a:gd name="T34" fmla="*/ 118 w 210"/>
                <a:gd name="T35" fmla="*/ 151 h 203"/>
                <a:gd name="T36" fmla="*/ 137 w 210"/>
                <a:gd name="T37" fmla="*/ 154 h 203"/>
                <a:gd name="T38" fmla="*/ 181 w 210"/>
                <a:gd name="T39" fmla="*/ 111 h 203"/>
                <a:gd name="T40" fmla="*/ 181 w 210"/>
                <a:gd name="T41" fmla="*/ 110 h 203"/>
                <a:gd name="T42" fmla="*/ 204 w 210"/>
                <a:gd name="T43" fmla="*/ 87 h 203"/>
                <a:gd name="T44" fmla="*/ 205 w 210"/>
                <a:gd name="T45" fmla="*/ 86 h 203"/>
                <a:gd name="T46" fmla="*/ 177 w 210"/>
                <a:gd name="T47" fmla="*/ 34 h 203"/>
                <a:gd name="T48" fmla="*/ 197 w 210"/>
                <a:gd name="T49" fmla="*/ 79 h 203"/>
                <a:gd name="T50" fmla="*/ 158 w 210"/>
                <a:gd name="T51" fmla="*/ 54 h 203"/>
                <a:gd name="T52" fmla="*/ 132 w 210"/>
                <a:gd name="T53" fmla="*/ 14 h 203"/>
                <a:gd name="T54" fmla="*/ 172 w 210"/>
                <a:gd name="T55" fmla="*/ 39 h 203"/>
                <a:gd name="T56" fmla="*/ 197 w 210"/>
                <a:gd name="T57" fmla="*/ 79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0" h="203">
                  <a:moveTo>
                    <a:pt x="177" y="34"/>
                  </a:moveTo>
                  <a:cubicBezTo>
                    <a:pt x="155" y="12"/>
                    <a:pt x="131" y="0"/>
                    <a:pt x="125" y="7"/>
                  </a:cubicBezTo>
                  <a:cubicBezTo>
                    <a:pt x="124" y="7"/>
                    <a:pt x="124" y="7"/>
                    <a:pt x="124" y="7"/>
                  </a:cubicBezTo>
                  <a:cubicBezTo>
                    <a:pt x="124" y="7"/>
                    <a:pt x="124" y="7"/>
                    <a:pt x="124" y="7"/>
                  </a:cubicBezTo>
                  <a:lnTo>
                    <a:pt x="100" y="31"/>
                  </a:lnTo>
                  <a:lnTo>
                    <a:pt x="100" y="31"/>
                  </a:lnTo>
                  <a:lnTo>
                    <a:pt x="57" y="75"/>
                  </a:lnTo>
                  <a:cubicBezTo>
                    <a:pt x="57" y="75"/>
                    <a:pt x="52" y="81"/>
                    <a:pt x="62" y="97"/>
                  </a:cubicBezTo>
                  <a:lnTo>
                    <a:pt x="4" y="145"/>
                  </a:lnTo>
                  <a:cubicBezTo>
                    <a:pt x="1" y="148"/>
                    <a:pt x="0" y="153"/>
                    <a:pt x="3" y="156"/>
                  </a:cubicBezTo>
                  <a:cubicBezTo>
                    <a:pt x="5" y="159"/>
                    <a:pt x="10" y="160"/>
                    <a:pt x="14" y="157"/>
                  </a:cubicBezTo>
                  <a:lnTo>
                    <a:pt x="71" y="110"/>
                  </a:lnTo>
                  <a:cubicBezTo>
                    <a:pt x="75" y="115"/>
                    <a:pt x="79" y="120"/>
                    <a:pt x="85" y="125"/>
                  </a:cubicBezTo>
                  <a:cubicBezTo>
                    <a:pt x="92" y="133"/>
                    <a:pt x="99" y="138"/>
                    <a:pt x="104" y="143"/>
                  </a:cubicBezTo>
                  <a:lnTo>
                    <a:pt x="62" y="189"/>
                  </a:lnTo>
                  <a:cubicBezTo>
                    <a:pt x="60" y="192"/>
                    <a:pt x="60" y="197"/>
                    <a:pt x="63" y="200"/>
                  </a:cubicBezTo>
                  <a:cubicBezTo>
                    <a:pt x="66" y="203"/>
                    <a:pt x="71" y="203"/>
                    <a:pt x="74" y="200"/>
                  </a:cubicBezTo>
                  <a:lnTo>
                    <a:pt x="118" y="151"/>
                  </a:lnTo>
                  <a:cubicBezTo>
                    <a:pt x="133" y="159"/>
                    <a:pt x="138" y="153"/>
                    <a:pt x="137" y="154"/>
                  </a:cubicBezTo>
                  <a:lnTo>
                    <a:pt x="181" y="111"/>
                  </a:lnTo>
                  <a:cubicBezTo>
                    <a:pt x="181" y="111"/>
                    <a:pt x="181" y="110"/>
                    <a:pt x="181" y="110"/>
                  </a:cubicBezTo>
                  <a:lnTo>
                    <a:pt x="204" y="87"/>
                  </a:lnTo>
                  <a:cubicBezTo>
                    <a:pt x="204" y="87"/>
                    <a:pt x="205" y="86"/>
                    <a:pt x="205" y="86"/>
                  </a:cubicBezTo>
                  <a:cubicBezTo>
                    <a:pt x="210" y="78"/>
                    <a:pt x="198" y="56"/>
                    <a:pt x="177" y="34"/>
                  </a:cubicBezTo>
                  <a:close/>
                  <a:moveTo>
                    <a:pt x="197" y="79"/>
                  </a:moveTo>
                  <a:cubicBezTo>
                    <a:pt x="194" y="83"/>
                    <a:pt x="176" y="72"/>
                    <a:pt x="158" y="54"/>
                  </a:cubicBezTo>
                  <a:cubicBezTo>
                    <a:pt x="140" y="36"/>
                    <a:pt x="128" y="18"/>
                    <a:pt x="132" y="14"/>
                  </a:cubicBezTo>
                  <a:cubicBezTo>
                    <a:pt x="136" y="10"/>
                    <a:pt x="154" y="21"/>
                    <a:pt x="172" y="39"/>
                  </a:cubicBezTo>
                  <a:cubicBezTo>
                    <a:pt x="190" y="57"/>
                    <a:pt x="201" y="75"/>
                    <a:pt x="197" y="79"/>
                  </a:cubicBezTo>
                  <a:close/>
                </a:path>
              </a:pathLst>
            </a:cu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0" name="椭圆 19">
              <a:extLst>
                <a:ext uri="{FF2B5EF4-FFF2-40B4-BE49-F238E27FC236}">
                  <a16:creationId xmlns:a16="http://schemas.microsoft.com/office/drawing/2014/main" id="{1C43DA7F-2E81-1BC4-2358-6CE94988793B}"/>
                </a:ext>
              </a:extLst>
            </p:cNvPr>
            <p:cNvSpPr/>
            <p:nvPr/>
          </p:nvSpPr>
          <p:spPr>
            <a:xfrm>
              <a:off x="5869411" y="1046205"/>
              <a:ext cx="3624046" cy="3624046"/>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capacitor_1977">
              <a:extLst>
                <a:ext uri="{FF2B5EF4-FFF2-40B4-BE49-F238E27FC236}">
                  <a16:creationId xmlns:a16="http://schemas.microsoft.com/office/drawing/2014/main" id="{E848746D-525E-0BFF-18EF-59806645F11D}"/>
                </a:ext>
              </a:extLst>
            </p:cNvPr>
            <p:cNvSpPr/>
            <p:nvPr/>
          </p:nvSpPr>
          <p:spPr>
            <a:xfrm>
              <a:off x="6656617" y="4551512"/>
              <a:ext cx="607898" cy="586616"/>
            </a:xfrm>
            <a:custGeom>
              <a:avLst/>
              <a:gdLst>
                <a:gd name="T0" fmla="*/ 177 w 210"/>
                <a:gd name="T1" fmla="*/ 34 h 203"/>
                <a:gd name="T2" fmla="*/ 125 w 210"/>
                <a:gd name="T3" fmla="*/ 7 h 203"/>
                <a:gd name="T4" fmla="*/ 124 w 210"/>
                <a:gd name="T5" fmla="*/ 7 h 203"/>
                <a:gd name="T6" fmla="*/ 124 w 210"/>
                <a:gd name="T7" fmla="*/ 7 h 203"/>
                <a:gd name="T8" fmla="*/ 100 w 210"/>
                <a:gd name="T9" fmla="*/ 31 h 203"/>
                <a:gd name="T10" fmla="*/ 100 w 210"/>
                <a:gd name="T11" fmla="*/ 31 h 203"/>
                <a:gd name="T12" fmla="*/ 57 w 210"/>
                <a:gd name="T13" fmla="*/ 75 h 203"/>
                <a:gd name="T14" fmla="*/ 62 w 210"/>
                <a:gd name="T15" fmla="*/ 97 h 203"/>
                <a:gd name="T16" fmla="*/ 4 w 210"/>
                <a:gd name="T17" fmla="*/ 145 h 203"/>
                <a:gd name="T18" fmla="*/ 3 w 210"/>
                <a:gd name="T19" fmla="*/ 156 h 203"/>
                <a:gd name="T20" fmla="*/ 14 w 210"/>
                <a:gd name="T21" fmla="*/ 157 h 203"/>
                <a:gd name="T22" fmla="*/ 71 w 210"/>
                <a:gd name="T23" fmla="*/ 110 h 203"/>
                <a:gd name="T24" fmla="*/ 85 w 210"/>
                <a:gd name="T25" fmla="*/ 125 h 203"/>
                <a:gd name="T26" fmla="*/ 104 w 210"/>
                <a:gd name="T27" fmla="*/ 143 h 203"/>
                <a:gd name="T28" fmla="*/ 62 w 210"/>
                <a:gd name="T29" fmla="*/ 189 h 203"/>
                <a:gd name="T30" fmla="*/ 63 w 210"/>
                <a:gd name="T31" fmla="*/ 200 h 203"/>
                <a:gd name="T32" fmla="*/ 74 w 210"/>
                <a:gd name="T33" fmla="*/ 200 h 203"/>
                <a:gd name="T34" fmla="*/ 118 w 210"/>
                <a:gd name="T35" fmla="*/ 151 h 203"/>
                <a:gd name="T36" fmla="*/ 137 w 210"/>
                <a:gd name="T37" fmla="*/ 154 h 203"/>
                <a:gd name="T38" fmla="*/ 181 w 210"/>
                <a:gd name="T39" fmla="*/ 111 h 203"/>
                <a:gd name="T40" fmla="*/ 181 w 210"/>
                <a:gd name="T41" fmla="*/ 110 h 203"/>
                <a:gd name="T42" fmla="*/ 204 w 210"/>
                <a:gd name="T43" fmla="*/ 87 h 203"/>
                <a:gd name="T44" fmla="*/ 205 w 210"/>
                <a:gd name="T45" fmla="*/ 86 h 203"/>
                <a:gd name="T46" fmla="*/ 177 w 210"/>
                <a:gd name="T47" fmla="*/ 34 h 203"/>
                <a:gd name="T48" fmla="*/ 197 w 210"/>
                <a:gd name="T49" fmla="*/ 79 h 203"/>
                <a:gd name="T50" fmla="*/ 158 w 210"/>
                <a:gd name="T51" fmla="*/ 54 h 203"/>
                <a:gd name="T52" fmla="*/ 132 w 210"/>
                <a:gd name="T53" fmla="*/ 14 h 203"/>
                <a:gd name="T54" fmla="*/ 172 w 210"/>
                <a:gd name="T55" fmla="*/ 39 h 203"/>
                <a:gd name="T56" fmla="*/ 197 w 210"/>
                <a:gd name="T57" fmla="*/ 79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0" h="203">
                  <a:moveTo>
                    <a:pt x="177" y="34"/>
                  </a:moveTo>
                  <a:cubicBezTo>
                    <a:pt x="155" y="12"/>
                    <a:pt x="131" y="0"/>
                    <a:pt x="125" y="7"/>
                  </a:cubicBezTo>
                  <a:cubicBezTo>
                    <a:pt x="124" y="7"/>
                    <a:pt x="124" y="7"/>
                    <a:pt x="124" y="7"/>
                  </a:cubicBezTo>
                  <a:cubicBezTo>
                    <a:pt x="124" y="7"/>
                    <a:pt x="124" y="7"/>
                    <a:pt x="124" y="7"/>
                  </a:cubicBezTo>
                  <a:lnTo>
                    <a:pt x="100" y="31"/>
                  </a:lnTo>
                  <a:lnTo>
                    <a:pt x="100" y="31"/>
                  </a:lnTo>
                  <a:lnTo>
                    <a:pt x="57" y="75"/>
                  </a:lnTo>
                  <a:cubicBezTo>
                    <a:pt x="57" y="75"/>
                    <a:pt x="52" y="81"/>
                    <a:pt x="62" y="97"/>
                  </a:cubicBezTo>
                  <a:lnTo>
                    <a:pt x="4" y="145"/>
                  </a:lnTo>
                  <a:cubicBezTo>
                    <a:pt x="1" y="148"/>
                    <a:pt x="0" y="153"/>
                    <a:pt x="3" y="156"/>
                  </a:cubicBezTo>
                  <a:cubicBezTo>
                    <a:pt x="5" y="159"/>
                    <a:pt x="10" y="160"/>
                    <a:pt x="14" y="157"/>
                  </a:cubicBezTo>
                  <a:lnTo>
                    <a:pt x="71" y="110"/>
                  </a:lnTo>
                  <a:cubicBezTo>
                    <a:pt x="75" y="115"/>
                    <a:pt x="79" y="120"/>
                    <a:pt x="85" y="125"/>
                  </a:cubicBezTo>
                  <a:cubicBezTo>
                    <a:pt x="92" y="133"/>
                    <a:pt x="99" y="138"/>
                    <a:pt x="104" y="143"/>
                  </a:cubicBezTo>
                  <a:lnTo>
                    <a:pt x="62" y="189"/>
                  </a:lnTo>
                  <a:cubicBezTo>
                    <a:pt x="60" y="192"/>
                    <a:pt x="60" y="197"/>
                    <a:pt x="63" y="200"/>
                  </a:cubicBezTo>
                  <a:cubicBezTo>
                    <a:pt x="66" y="203"/>
                    <a:pt x="71" y="203"/>
                    <a:pt x="74" y="200"/>
                  </a:cubicBezTo>
                  <a:lnTo>
                    <a:pt x="118" y="151"/>
                  </a:lnTo>
                  <a:cubicBezTo>
                    <a:pt x="133" y="159"/>
                    <a:pt x="138" y="153"/>
                    <a:pt x="137" y="154"/>
                  </a:cubicBezTo>
                  <a:lnTo>
                    <a:pt x="181" y="111"/>
                  </a:lnTo>
                  <a:cubicBezTo>
                    <a:pt x="181" y="111"/>
                    <a:pt x="181" y="110"/>
                    <a:pt x="181" y="110"/>
                  </a:cubicBezTo>
                  <a:lnTo>
                    <a:pt x="204" y="87"/>
                  </a:lnTo>
                  <a:cubicBezTo>
                    <a:pt x="204" y="87"/>
                    <a:pt x="205" y="86"/>
                    <a:pt x="205" y="86"/>
                  </a:cubicBezTo>
                  <a:cubicBezTo>
                    <a:pt x="210" y="78"/>
                    <a:pt x="198" y="56"/>
                    <a:pt x="177" y="34"/>
                  </a:cubicBezTo>
                  <a:close/>
                  <a:moveTo>
                    <a:pt x="197" y="79"/>
                  </a:moveTo>
                  <a:cubicBezTo>
                    <a:pt x="194" y="83"/>
                    <a:pt x="176" y="72"/>
                    <a:pt x="158" y="54"/>
                  </a:cubicBezTo>
                  <a:cubicBezTo>
                    <a:pt x="140" y="36"/>
                    <a:pt x="128" y="18"/>
                    <a:pt x="132" y="14"/>
                  </a:cubicBezTo>
                  <a:cubicBezTo>
                    <a:pt x="136" y="10"/>
                    <a:pt x="154" y="21"/>
                    <a:pt x="172" y="39"/>
                  </a:cubicBezTo>
                  <a:cubicBezTo>
                    <a:pt x="190" y="57"/>
                    <a:pt x="201" y="75"/>
                    <a:pt x="197" y="79"/>
                  </a:cubicBezTo>
                  <a:close/>
                </a:path>
              </a:pathLst>
            </a:cu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2" name="椭圆 21">
              <a:extLst>
                <a:ext uri="{FF2B5EF4-FFF2-40B4-BE49-F238E27FC236}">
                  <a16:creationId xmlns:a16="http://schemas.microsoft.com/office/drawing/2014/main" id="{7192A816-3A7B-6EBA-726E-447DED977A2C}"/>
                </a:ext>
              </a:extLst>
            </p:cNvPr>
            <p:cNvSpPr/>
            <p:nvPr/>
          </p:nvSpPr>
          <p:spPr>
            <a:xfrm>
              <a:off x="5261513" y="3032797"/>
              <a:ext cx="3624046" cy="3624046"/>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矩形 24">
            <a:extLst>
              <a:ext uri="{FF2B5EF4-FFF2-40B4-BE49-F238E27FC236}">
                <a16:creationId xmlns:a16="http://schemas.microsoft.com/office/drawing/2014/main" id="{54B207FC-53DF-F150-F448-AC553BFF86EE}"/>
              </a:ext>
            </a:extLst>
          </p:cNvPr>
          <p:cNvSpPr/>
          <p:nvPr/>
        </p:nvSpPr>
        <p:spPr>
          <a:xfrm>
            <a:off x="2020102" y="262154"/>
            <a:ext cx="3518913" cy="400110"/>
          </a:xfrm>
          <a:prstGeom prst="rect">
            <a:avLst/>
          </a:prstGeom>
          <a:noFill/>
          <a:ln>
            <a:noFill/>
          </a:ln>
        </p:spPr>
        <p:txBody>
          <a:bodyPr wrap="none" rtlCol="0" anchor="t">
            <a:spAutoFit/>
          </a:bodyPr>
          <a:lstStyle/>
          <a:p>
            <a:pPr algn="ctr"/>
            <a:r>
              <a:rPr lang="zh-CN" altLang="en-US" sz="2000" dirty="0">
                <a:solidFill>
                  <a:schemeClr val="tx1"/>
                </a:solidFill>
                <a:effectLst>
                  <a:outerShdw blurRad="38100" dist="19050" dir="2700000" algn="tl" rotWithShape="0">
                    <a:schemeClr val="dk1">
                      <a:alpha val="40000"/>
                    </a:schemeClr>
                  </a:outerShdw>
                </a:effectLst>
              </a:rPr>
              <a:t>分区供电（多口供电）的</a:t>
            </a:r>
            <a:r>
              <a:rPr lang="zh-CN" altLang="en-US" sz="2000" dirty="0">
                <a:effectLst>
                  <a:outerShdw blurRad="38100" dist="19050" dir="2700000" algn="tl" rotWithShape="0">
                    <a:schemeClr val="dk1">
                      <a:alpha val="40000"/>
                    </a:schemeClr>
                  </a:outerShdw>
                </a:effectLst>
              </a:rPr>
              <a:t>优势</a:t>
            </a:r>
            <a:endParaRPr lang="en-US" altLang="zh-CN" sz="2000" dirty="0">
              <a:solidFill>
                <a:schemeClr val="tx1"/>
              </a:solidFill>
              <a:effectLst>
                <a:outerShdw blurRad="38100" dist="19050" dir="2700000" algn="tl" rotWithShape="0">
                  <a:schemeClr val="dk1">
                    <a:alpha val="40000"/>
                  </a:schemeClr>
                </a:outerShdw>
              </a:effectLst>
            </a:endParaRPr>
          </a:p>
        </p:txBody>
      </p:sp>
      <p:sp>
        <p:nvSpPr>
          <p:cNvPr id="26" name="文本框 25">
            <a:extLst>
              <a:ext uri="{FF2B5EF4-FFF2-40B4-BE49-F238E27FC236}">
                <a16:creationId xmlns:a16="http://schemas.microsoft.com/office/drawing/2014/main" id="{82BF679F-47C7-C58C-2215-481530117240}"/>
              </a:ext>
            </a:extLst>
          </p:cNvPr>
          <p:cNvSpPr txBox="1"/>
          <p:nvPr/>
        </p:nvSpPr>
        <p:spPr>
          <a:xfrm>
            <a:off x="7042546" y="1794450"/>
            <a:ext cx="4350543" cy="3269100"/>
          </a:xfrm>
          <a:prstGeom prst="rect">
            <a:avLst/>
          </a:prstGeom>
          <a:noFill/>
        </p:spPr>
        <p:txBody>
          <a:bodyPr wrap="square" rtlCol="0">
            <a:spAutoFit/>
          </a:bodyPr>
          <a:lstStyle/>
          <a:p>
            <a:pPr>
              <a:lnSpc>
                <a:spcPct val="150000"/>
              </a:lnSpc>
            </a:pPr>
            <a:r>
              <a:rPr lang="zh-CN" altLang="en-US" sz="2000" dirty="0"/>
              <a:t>多口供电的设计使得单片机内部各模块能够</a:t>
            </a:r>
            <a:r>
              <a:rPr lang="zh-CN" altLang="en-US" sz="2000" b="1" dirty="0"/>
              <a:t>就近获取电源</a:t>
            </a:r>
            <a:r>
              <a:rPr lang="zh-CN" altLang="en-US" sz="2000" dirty="0"/>
              <a:t>，从而减少电源分布中的压降和干扰。将多个小电容布置在供电引脚附近，可以有效抑制噪声和电压波动，确保各模块稳定运行。这种布局设计有助于提高系统的电气性能和整体可靠性。</a:t>
            </a:r>
            <a:endParaRPr lang="en-US" altLang="zh-CN" sz="2000" dirty="0"/>
          </a:p>
        </p:txBody>
      </p:sp>
    </p:spTree>
    <p:extLst>
      <p:ext uri="{BB962C8B-B14F-4D97-AF65-F5344CB8AC3E}">
        <p14:creationId xmlns:p14="http://schemas.microsoft.com/office/powerpoint/2010/main" val="37200524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0c064124-f537-4a0d-887a-4f44502825de"/>
  <p:tag name="COMMONDATA" val="eyJoZGlkIjoiNWM2ZTM5MWI1NGI2YTlmMTlhZGVmZWRhMzc2ZTZjNzcifQ=="/>
</p:tagLst>
</file>

<file path=ppt/tags/tag2.xml><?xml version="1.0" encoding="utf-8"?>
<p:tagLst xmlns:a="http://schemas.openxmlformats.org/drawingml/2006/main" xmlns:r="http://schemas.openxmlformats.org/officeDocument/2006/relationships" xmlns:p="http://schemas.openxmlformats.org/presentationml/2006/main">
  <p:tag name="KSO_WM_TEMPLATE_TOPIC_DEFAULT" val="1"/>
  <p:tag name="KSO_WM_TEMPLATE_JOB_ID" val="2"/>
  <p:tag name="KSO_WM_TEMPLATE_SCENE_ID" val="1"/>
  <p:tag name="KSO_WM_TEMPLATE_OUTLINE_ID" val="15"/>
  <p:tag name="KSO_WM_TEMPLATE_TOPIC_ID" val="2869567"/>
  <p:tag name="KSO_WM_BEAUTIFY_FLAG" val="#wm#"/>
  <p:tag name="KSO_WM_TAG_VERSION" val="1.0"/>
  <p:tag name="KSO_WM_TEMPLATE_INDEX" val="20184553"/>
  <p:tag name="KSO_WM_TEMPLATE_CATEGORY" val="custom"/>
  <p:tag name="KSO_WM_TEMPLATE_THUMBS_INDEX"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232</Words>
  <Application>Microsoft Office PowerPoint</Application>
  <PresentationFormat>宽屏</PresentationFormat>
  <Paragraphs>21</Paragraphs>
  <Slides>7</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7</vt:i4>
      </vt:variant>
    </vt:vector>
  </HeadingPairs>
  <TitlesOfParts>
    <vt:vector size="10" baseType="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20</cp:revision>
  <dcterms:created xsi:type="dcterms:W3CDTF">2018-03-01T02:03:00Z</dcterms:created>
  <dcterms:modified xsi:type="dcterms:W3CDTF">2024-10-16T21:02:05Z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F7B4B2F6CD0549B6AE63142D8D89DB87_12</vt:lpwstr>
  </property>
</Properties>
</file>